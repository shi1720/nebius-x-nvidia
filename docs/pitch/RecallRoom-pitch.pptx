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170aeb66f84d7d" /><Relationship Type="http://schemas.openxmlformats.org/officeDocument/2006/relationships/extended-properties" Target="/docProps/app.xml" Id="R6497d858a04c4ad4" /><Relationship Type="http://schemas.openxmlformats.org/officeDocument/2006/relationships/officeDocument" Target="/ppt/presentation.xml" Id="Rbee4f834705645f7" /></Relationships>
</file>

<file path=ppt/presentation.xml><?xml version="1.0" encoding="utf-8"?>
<p:presentation xmlns:p="http://schemas.openxmlformats.org/presentationml/2006/main">
  <p:sldMasterIdLst>
    <p:sldMasterId xmlns:r="http://schemas.openxmlformats.org/officeDocument/2006/relationships" id="2147483648" r:id="R4c8f035dc7ce4f66"/>
  </p:sldMasterIdLst>
  <p:notesMasterIdLst>
    <p:notesMasterId xmlns:r="http://schemas.openxmlformats.org/officeDocument/2006/relationships" r:id="Rb9e8d2760fbc480e"/>
  </p:notesMasterIdLst>
  <p:sldIdLst>
    <p:sldId xmlns:r="http://schemas.openxmlformats.org/officeDocument/2006/relationships" id="256" r:id="Ra4a3300759d244f6"/>
    <p:sldId xmlns:r="http://schemas.openxmlformats.org/officeDocument/2006/relationships" id="257" r:id="R14232779f62042d3"/>
    <p:sldId xmlns:r="http://schemas.openxmlformats.org/officeDocument/2006/relationships" id="258" r:id="R21eb88db50e249de"/>
    <p:sldId xmlns:r="http://schemas.openxmlformats.org/officeDocument/2006/relationships" id="259" r:id="Rb2c3ddec8ae14c01"/>
    <p:sldId xmlns:r="http://schemas.openxmlformats.org/officeDocument/2006/relationships" id="260" r:id="Rfb305191cf474d3e"/>
    <p:sldId xmlns:r="http://schemas.openxmlformats.org/officeDocument/2006/relationships" id="261" r:id="R64b61bca15ed4b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34d14e31d54a4b" /><Relationship Type="http://schemas.openxmlformats.org/officeDocument/2006/relationships/slideMaster" Target="/ppt/slideMasters/slideMaster1.xml" Id="R4c8f035dc7ce4f66" /><Relationship Type="http://schemas.openxmlformats.org/officeDocument/2006/relationships/notesMaster" Target="/ppt/notesMasters/notesMaster1.xml" Id="Rb9e8d2760fbc480e" /><Relationship Type="http://schemas.openxmlformats.org/officeDocument/2006/relationships/presProps" Target="/ppt/presProps.xml" Id="R52096a94a7f74c67" /><Relationship Type="http://schemas.openxmlformats.org/officeDocument/2006/relationships/tableStyles" Target="/ppt/tableStyles.xml" Id="R549a74d797114bf1" /><Relationship Type="http://schemas.openxmlformats.org/officeDocument/2006/relationships/slide" Target="/ppt/slides/slide1.xml" Id="Ra4a3300759d244f6" /><Relationship Type="http://schemas.openxmlformats.org/officeDocument/2006/relationships/slide" Target="/ppt/slides/slide2.xml" Id="R14232779f62042d3" /><Relationship Type="http://schemas.openxmlformats.org/officeDocument/2006/relationships/slide" Target="/ppt/slides/slide3.xml" Id="R21eb88db50e249de" /><Relationship Type="http://schemas.openxmlformats.org/officeDocument/2006/relationships/slide" Target="/ppt/slides/slide4.xml" Id="Rb2c3ddec8ae14c01" /><Relationship Type="http://schemas.openxmlformats.org/officeDocument/2006/relationships/slide" Target="/ppt/slides/slide5.xml" Id="Rfb305191cf474d3e" /><Relationship Type="http://schemas.openxmlformats.org/officeDocument/2006/relationships/slide" Target="/ppt/slides/slide6.xml" Id="R64b61bca15ed4b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8ec636c7be47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bf65aac95942d0" /><Relationship Type="http://schemas.openxmlformats.org/officeDocument/2006/relationships/notesMaster" Target="/ppt/notesMasters/notesMaster1.xml" Id="R103977c3a39c4e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5fd279f05f4f10" /><Relationship Type="http://schemas.openxmlformats.org/officeDocument/2006/relationships/notesMaster" Target="/ppt/notesMasters/notesMaster1.xml" Id="Rb0e36eed09da40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a9278351114ee7" /><Relationship Type="http://schemas.openxmlformats.org/officeDocument/2006/relationships/notesMaster" Target="/ppt/notesMasters/notesMaster1.xml" Id="Rac7b5a8fea6b49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f0bec5319547a0" /><Relationship Type="http://schemas.openxmlformats.org/officeDocument/2006/relationships/notesMaster" Target="/ppt/notesMasters/notesMaster1.xml" Id="Ree2a5f94bd1b4b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34cc5d637043e0" /><Relationship Type="http://schemas.openxmlformats.org/officeDocument/2006/relationships/notesMaster" Target="/ppt/notesMasters/notesMaster1.xml" Id="Re2b82418c6b54a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f03cd1c6734a0f" /><Relationship Type="http://schemas.openxmlformats.org/officeDocument/2006/relationships/notesMaster" Target="/ppt/notesMasters/notesMaster1.xml" Id="Reb3ee5c1446541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RecallRoom was created by Shivam Gupta with AI-assisted research, implementation, testing, and documentation. This deck describes the Firebase MVP and synthetic demonstration. Public demo: https://recallroom.web.app . Live NVIDIA Nemotron execution through Nebius Token Factory is pending a credential. No customer results or live model performance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figures are synthetic demo fixtures. Lot PB-0901-A supplies 480 oat bars and 320 energy bites. Confirmed finished units total 800, including 600 shipped to three customers and 200 on site. The unresolved 240-cookie batch includes 120 shipped units and must remain separate from the confirmed 600. Another 360-oat-bar batch uses PB-0901-B. Source material is tracked in kilograms independently from finished units. The editable graph is a functional evidence schematic, not a screenshot of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example: unresolved cookie production could have consumed 10 kg from lot A, so remaining ingredient initially ranges from 40 to 50 kg. Reviewed correction evidence assigning cookies to lot B removes that possible consumption from lot A, producing 50 kg remaining. This does not declare products generally safe. A case hold is a recorded recommendation/workflow state, not a physical warehouse action. The model cannot authorize release or silently resolve uncertain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deployment uses Firebase Hosting and Firebase Authentication, with server-verified Google or email/password identities. A Cloud Run API controls owner-scoped Firestore investigations and private Google Cloud Storage originals. Cloud Tasks dispatches authenticated background extraction. The NVIDIA Nemotron adapter targets Nebius Token Factory and remains unverified against a live NVIDIA model. Text, CSV, JSON and selectable-text PDFs are supported. A reviewer must compare browser-extracted PDF text with the original. The app validates schema, exact quotations, references, cycles, units and balances, computes deterministic scope and ranges, and preserves reviewed decisions. Customer drafts remain unsent. Sources: repository README.md, docs/architecture.md and docs/STATUS.md for this Firebase release. Public demo: https://recallroom.web.app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FDA Traceability Readiness Tabletop Exercises Final Report, 2026, https://www.fda.gov/media/192993/download?attachment= . Fifteen firms voluntarily participated across six scenarios; the report explicitly warns against industry-wide generalization. Traditional business records often contained relevant facts, while lot code and source completeness remained challenges. Competitor primary sources: https://www.fooddocs.com/pricing and https://mar-kov.com/traceability/ . RecallRoom does not claim to be first, unique among every vendor, or a replacement for full food-safety or manufacturing platforms. $99 per site per month is an unvalidated pricing hypothesis. No interviews, paid pilots, savings or customer outcomes have been completed or measured. Consultant distribution and repeated readiness drills are hypotheses requiring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demo: https://recallroom.web.app . Repository: https://github.com/shi1720/Nebius-x-NVIDIA . Application verification: 37 automated tests, 60 hosted Firebase API checks and 10 operator checks against production Firestore functions. Hosted API checks use real disposable Firebase accounts and synthetic records. Operator checks do not enqueue inference. Provider contracts use mocks. These results do not prove live NVIDIA inference, customer value, or real-world recall accuracy. Sources: docs/STATUS.md, docs/evaluation/firebase-api.json and docs/evaluation/firebase-operator.json. Founder/project creator credit: Shivam Gupta. AI assistance covered research, implementation, testing, and documentation; no additional personal actions or external validation are invented. Submission requires verified use of an NVIDIA open-source model on Nebius Token Factory or Nebius AI Cloud, a working public demo, public repository with license, and a public demo video at most three minutes with audio naming the provider and model. This deck is an honest MVP pitch, not a claim of readiness for real incident reliance.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703c42d79747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3fcab6b2444aa7" /><Relationship Type="http://schemas.openxmlformats.org/officeDocument/2006/relationships/slideLayout" Target="/ppt/slideLayouts/slideLayout1.xml" Id="R140e9665b3e540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0e9665b3e540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195d2b3be94425" /><Relationship Type="http://schemas.openxmlformats.org/officeDocument/2006/relationships/notesSlide" Target="/ppt/notesSlides/notesSlide1.xml" Id="Rbb51e92633e24e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590262c52c47a0" /><Relationship Type="http://schemas.openxmlformats.org/officeDocument/2006/relationships/notesSlide" Target="/ppt/notesSlides/notesSlide2.xml" Id="R0b1829c56dd445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098e6a78074be7" /><Relationship Type="http://schemas.openxmlformats.org/officeDocument/2006/relationships/notesSlide" Target="/ppt/notesSlides/notesSlide3.xml" Id="Red8bb1a7307149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3e1a05251444d1" /><Relationship Type="http://schemas.openxmlformats.org/officeDocument/2006/relationships/notesSlide" Target="/ppt/notesSlides/notesSlide4.xml" Id="Rebd03237f74145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2de67fdbdf4d1b" /><Relationship Type="http://schemas.openxmlformats.org/officeDocument/2006/relationships/notesSlide" Target="/ppt/notesSlides/notesSlide5.xml" Id="Rad11deff19fc4b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d9dc83cda24017" /><Relationship Type="http://schemas.openxmlformats.org/officeDocument/2006/relationships/notesSlide" Target="/ppt/notesSlides/notesSlide6.xml" Id="R1ac95138fb324180" /></Relationships>
</file>

<file path=ppt/slides/slide1.xml><?xml version="1.0" encoding="utf-8"?>
<p:sld xmlns:p="http://schemas.openxmlformats.org/presentationml/2006/main">
  <p:cSld>
    <p:bg>
      <p:bgPr>
        <a:solidFill xmlns:a="http://schemas.openxmlformats.org/drawingml/2006/main">
          <a:srgbClr val="122D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007EDD-433D-45C7-B674-D7DB99946AE1}"/>
              </a:ext>
            </a:extLst>
          </p:cNvPr>
          <p:cNvSpPr>
            <a:spLocks xmlns:a="http://schemas.openxmlformats.org/drawingml/2006/main" noGrp="1"/>
          </p:cNvSpPr>
          <p:nvPr/>
        </p:nvSpPr>
        <p:spPr>
          <a:xfrm xmlns:a="http://schemas.openxmlformats.org/drawingml/2006/main">
            <a:off x="609600" y="13049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FFFFFF"/>
                </a:solidFill>
                <a:latin typeface="Helvetica Neue"/>
                <a:ea typeface="Helvetica Neue"/>
                <a:cs typeface="Helvetica Neue"/>
              </a:defRPr>
            </a:pPr>
            <a:r>
              <a:rPr sz="6750" b="1">
                <a:solidFill>
                  <a:srgbClr val="FFFFFF"/>
                </a:solidFill>
                <a:latin typeface="Helvetica Neue"/>
                <a:ea typeface="Helvetica Neue"/>
                <a:cs typeface="Helvetica Neue"/>
              </a:rPr>
              <a:t>RecallRoom</a:t>
            </a:r>
          </a:p>
        </p:txBody>
      </p:sp>
      <p:sp>
        <p:nvSpPr>
          <p:cNvPr id="2" name="">
            <a:extLst xmlns:a="http://schemas.openxmlformats.org/drawingml/2006/main">
              <a:ext uri="{FF2B5EF4-FFF2-40B4-BE49-F238E27FC236}">
                <a16:creationId xmlns:a16="http://schemas.microsoft.com/office/drawing/2014/main" id="{95B508B4-51F3-43A1-83B5-153788E6D778}"/>
              </a:ext>
            </a:extLst>
          </p:cNvPr>
          <p:cNvSpPr>
            <a:spLocks xmlns:a="http://schemas.openxmlformats.org/drawingml/2006/main" noGrp="1"/>
          </p:cNvSpPr>
          <p:nvPr/>
        </p:nvSpPr>
        <p:spPr>
          <a:xfrm xmlns:a="http://schemas.openxmlformats.org/drawingml/2006/main">
            <a:off x="647700" y="2733675"/>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A6E1CB"/>
                </a:solidFill>
                <a:latin typeface="Helvetica Neue"/>
                <a:ea typeface="Helvetica Neue"/>
                <a:cs typeface="Helvetica Neue"/>
              </a:defRPr>
            </a:pPr>
            <a:r>
              <a:rPr sz="3225" b="0">
                <a:solidFill>
                  <a:srgbClr val="A6E1CB"/>
                </a:solidFill>
                <a:latin typeface="Helvetica Neue"/>
                <a:ea typeface="Helvetica Neue"/>
                <a:cs typeface="Helvetica Neue"/>
              </a:rPr>
              <a:t>A supplier recalls one ingredient lot.</a:t>
            </a:r>
          </a:p>
          <a:p xmlns:a="http://schemas.openxmlformats.org/drawingml/2006/main">
            <a:pPr>
              <a:defRPr sz="3225" b="0">
                <a:solidFill>
                  <a:srgbClr val="A6E1CB"/>
                </a:solidFill>
                <a:latin typeface="Helvetica Neue"/>
                <a:ea typeface="Helvetica Neue"/>
                <a:cs typeface="Helvetica Neue"/>
              </a:defRPr>
            </a:pPr>
            <a:r>
              <a:rPr sz="3225" b="0">
                <a:solidFill>
                  <a:srgbClr val="A6E1CB"/>
                </a:solidFill>
                <a:latin typeface="Helvetica Neue"/>
                <a:ea typeface="Helvetica Neue"/>
                <a:cs typeface="Helvetica Neue"/>
              </a:rPr>
              <a:t>Which products and customers did it reach?</a:t>
            </a:r>
          </a:p>
        </p:txBody>
      </p:sp>
      <p:sp>
        <p:nvSpPr>
          <p:cNvPr id="3" name="">
            <a:extLst xmlns:a="http://schemas.openxmlformats.org/drawingml/2006/main">
              <a:ext uri="{FF2B5EF4-FFF2-40B4-BE49-F238E27FC236}">
                <a16:creationId xmlns:a16="http://schemas.microsoft.com/office/drawing/2014/main" id="{3D65BDBC-CAEC-4E1B-B95C-58CA64482364}"/>
              </a:ext>
            </a:extLst>
          </p:cNvPr>
          <p:cNvSpPr>
            <a:spLocks xmlns:a="http://schemas.openxmlformats.org/drawingml/2006/main" noGrp="1"/>
          </p:cNvSpPr>
          <p:nvPr/>
        </p:nvSpPr>
        <p:spPr>
          <a:xfrm xmlns:a="http://schemas.openxmlformats.org/drawingml/2006/main">
            <a:off x="647700" y="45529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An evidence workspace for small food manufacturers</a:t>
            </a:r>
          </a:p>
        </p:txBody>
      </p:sp>
      <p:sp>
        <p:nvSpPr>
          <p:cNvPr id="4" name="">
            <a:extLst xmlns:a="http://schemas.openxmlformats.org/drawingml/2006/main">
              <a:ext uri="{FF2B5EF4-FFF2-40B4-BE49-F238E27FC236}">
                <a16:creationId xmlns:a16="http://schemas.microsoft.com/office/drawing/2014/main" id="{C0613749-5165-43D8-8FBB-852B75082E7A}"/>
              </a:ext>
            </a:extLst>
          </p:cNvPr>
          <p:cNvSpPr>
            <a:spLocks xmlns:a="http://schemas.openxmlformats.org/drawingml/2006/main" noGrp="1"/>
          </p:cNvSpPr>
          <p:nvPr/>
        </p:nvSpPr>
        <p:spPr>
          <a:xfrm xmlns:a="http://schemas.openxmlformats.org/drawingml/2006/main">
            <a:off x="647700" y="516255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6E1CB"/>
                </a:solidFill>
                <a:latin typeface="Helvetica Neue"/>
                <a:ea typeface="Helvetica Neue"/>
                <a:cs typeface="Helvetica Neue"/>
              </a:defRPr>
            </a:pPr>
            <a:r>
              <a:rPr sz="1875" b="0">
                <a:solidFill>
                  <a:srgbClr val="A6E1CB"/>
                </a:solidFill>
                <a:latin typeface="Helvetica Neue"/>
                <a:ea typeface="Helvetica Neue"/>
                <a:cs typeface="Helvetica Neue"/>
              </a:rPr>
              <a:t>recallroom.web.app</a:t>
            </a:r>
          </a:p>
        </p:txBody>
      </p:sp>
      <p:sp>
        <p:nvSpPr>
          <p:cNvPr id="5" name="">
            <a:extLst xmlns:a="http://schemas.openxmlformats.org/drawingml/2006/main">
              <a:ext uri="{FF2B5EF4-FFF2-40B4-BE49-F238E27FC236}">
                <a16:creationId xmlns:a16="http://schemas.microsoft.com/office/drawing/2014/main" id="{F9846826-FB28-424A-9B30-31381F316C45}"/>
              </a:ext>
            </a:extLst>
          </p:cNvPr>
          <p:cNvSpPr>
            <a:spLocks xmlns:a="http://schemas.openxmlformats.org/drawingml/2006/main" noGrp="1"/>
          </p:cNvSpPr>
          <p:nvPr/>
        </p:nvSpPr>
        <p:spPr>
          <a:xfrm xmlns:a="http://schemas.openxmlformats.org/drawingml/2006/main">
            <a:off x="647700" y="57340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Shivam Gupta</a:t>
            </a:r>
          </a:p>
          <a:p xmlns:a="http://schemas.openxmlformats.org/drawingml/2006/main">
            <a:pPr>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Project creator</a:t>
            </a:r>
          </a:p>
        </p:txBody>
      </p:sp>
      <p:sp>
        <p:nvSpPr>
          <p:cNvPr id="6" name="">
            <a:extLst xmlns:a="http://schemas.openxmlformats.org/drawingml/2006/main">
              <a:ext uri="{FF2B5EF4-FFF2-40B4-BE49-F238E27FC236}">
                <a16:creationId xmlns:a16="http://schemas.microsoft.com/office/drawing/2014/main" id="{4AD7187A-2FB2-4A18-A599-AA6C3F14D37C}"/>
              </a:ext>
            </a:extLst>
          </p:cNvPr>
          <p:cNvSpPr>
            <a:spLocks xmlns:a="http://schemas.openxmlformats.org/drawingml/2006/main" noGrp="1"/>
          </p:cNvSpPr>
          <p:nvPr/>
        </p:nvSpPr>
        <p:spPr>
          <a:xfrm xmlns:a="http://schemas.openxmlformats.org/drawingml/2006/main">
            <a:off x="8534400" y="573405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6E1CB"/>
                </a:solidFill>
                <a:latin typeface="Helvetica Neue"/>
                <a:ea typeface="Helvetica Neue"/>
                <a:cs typeface="Helvetica Neue"/>
              </a:defRPr>
            </a:pPr>
            <a:r>
              <a:rPr sz="1650" b="0">
                <a:solidFill>
                  <a:srgbClr val="A6E1CB"/>
                </a:solidFill>
                <a:latin typeface="Helvetica Neue"/>
                <a:ea typeface="Helvetica Neue"/>
                <a:cs typeface="Helvetica Neue"/>
              </a:rPr>
              <a:t>Nebius × NVIDIA</a:t>
            </a:r>
          </a:p>
          <a:p xmlns:a="http://schemas.openxmlformats.org/drawingml/2006/main">
            <a:pPr>
              <a:defRPr sz="1650" b="0">
                <a:solidFill>
                  <a:srgbClr val="A6E1CB"/>
                </a:solidFill>
                <a:latin typeface="Helvetica Neue"/>
                <a:ea typeface="Helvetica Neue"/>
                <a:cs typeface="Helvetica Neue"/>
              </a:defRPr>
            </a:pPr>
            <a:r>
              <a:rPr sz="1650" b="0">
                <a:solidFill>
                  <a:srgbClr val="A6E1CB"/>
                </a:solidFill>
                <a:latin typeface="Helvetica Neue"/>
                <a:ea typeface="Helvetica Neue"/>
                <a:cs typeface="Helvetica Neue"/>
              </a:rPr>
              <a:t>Best Apps and Agents</a:t>
            </a:r>
          </a:p>
        </p:txBody>
      </p:sp>
    </p:spTree>
    <p:extLst>
      <p:ext uri="{BB962C8B-B14F-4D97-AF65-F5344CB8AC3E}">
        <p14:creationId xmlns:p14="http://schemas.microsoft.com/office/powerpoint/2010/main" val="2927976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B4C0368-C5EA-4C72-B000-8F1C341E3187}"/>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2D36"/>
                </a:solidFill>
                <a:latin typeface="Helvetica Neue"/>
                <a:ea typeface="Helvetica Neue"/>
                <a:cs typeface="Helvetica Neue"/>
              </a:defRPr>
            </a:pPr>
            <a:r>
              <a:rPr sz="3450" b="1">
                <a:solidFill>
                  <a:srgbClr val="122D36"/>
                </a:solidFill>
                <a:latin typeface="Helvetica Neue"/>
                <a:ea typeface="Helvetica Neue"/>
                <a:cs typeface="Helvetica Neue"/>
              </a:rPr>
              <a:t>The recalled lot has a traceable scope</a:t>
            </a:r>
          </a:p>
        </p:txBody>
      </p:sp>
      <p:sp>
        <p:nvSpPr>
          <p:cNvPr id="2" name="">
            <a:extLst xmlns:a="http://schemas.openxmlformats.org/drawingml/2006/main">
              <a:ext uri="{FF2B5EF4-FFF2-40B4-BE49-F238E27FC236}">
                <a16:creationId xmlns:a16="http://schemas.microsoft.com/office/drawing/2014/main" id="{FE53455A-02FB-4733-B7E2-C3D373D63417}"/>
              </a:ext>
            </a:extLst>
          </p:cNvPr>
          <p:cNvSpPr>
            <a:spLocks xmlns:a="http://schemas.openxmlformats.org/drawingml/2006/main" noGrp="1"/>
          </p:cNvSpPr>
          <p:nvPr/>
        </p:nvSpPr>
        <p:spPr>
          <a:xfrm xmlns:a="http://schemas.openxmlformats.org/drawingml/2006/main">
            <a:off x="609600" y="637222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970"/>
                </a:solidFill>
                <a:latin typeface="Helvetica Neue"/>
                <a:ea typeface="Helvetica Neue"/>
                <a:cs typeface="Helvetica Neue"/>
              </a:defRPr>
            </a:pPr>
            <a:r>
              <a:rPr sz="1200" b="0">
                <a:solidFill>
                  <a:srgbClr val="526970"/>
                </a:solidFill>
                <a:latin typeface="Helvetica Neue"/>
                <a:ea typeface="Helvetica Neue"/>
                <a:cs typeface="Helvetica Neue"/>
              </a:rPr>
              <a:t>RecallRoom   /   2</a:t>
            </a:r>
          </a:p>
        </p:txBody>
      </p:sp>
      <p:sp>
        <p:nvSpPr>
          <p:cNvPr id="3" name="">
            <a:extLst xmlns:a="http://schemas.openxmlformats.org/drawingml/2006/main">
              <a:ext uri="{FF2B5EF4-FFF2-40B4-BE49-F238E27FC236}">
                <a16:creationId xmlns:a16="http://schemas.microsoft.com/office/drawing/2014/main" id="{53C0B9F0-62A7-41A7-BC90-EEE2D55D8B71}"/>
              </a:ext>
            </a:extLst>
          </p:cNvPr>
          <p:cNvSpPr>
            <a:spLocks xmlns:a="http://schemas.openxmlformats.org/drawingml/2006/main" noGrp="1"/>
          </p:cNvSpPr>
          <p:nvPr/>
        </p:nvSpPr>
        <p:spPr>
          <a:xfrm xmlns:a="http://schemas.openxmlformats.org/drawingml/2006/main">
            <a:off x="628650" y="13049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970"/>
                </a:solidFill>
                <a:latin typeface="Helvetica Neue"/>
                <a:ea typeface="Helvetica Neue"/>
                <a:cs typeface="Helvetica Neue"/>
              </a:defRPr>
            </a:pPr>
            <a:r>
              <a:rPr sz="1875" b="0">
                <a:solidFill>
                  <a:srgbClr val="526970"/>
                </a:solidFill>
                <a:latin typeface="Helvetica Neue"/>
                <a:ea typeface="Helvetica Neue"/>
                <a:cs typeface="Helvetica Neue"/>
              </a:rPr>
              <a:t>Fictional drill: peanut-butter lot PB-0901-A</a:t>
            </a:r>
          </a:p>
        </p:txBody>
      </p:sp>
      <p:sp>
        <p:nvSpPr>
          <p:cNvPr id="4" name="">
            <a:extLst xmlns:a="http://schemas.openxmlformats.org/drawingml/2006/main">
              <a:ext uri="{FF2B5EF4-FFF2-40B4-BE49-F238E27FC236}">
                <a16:creationId xmlns:a16="http://schemas.microsoft.com/office/drawing/2014/main" id="{4B881104-82E7-4B5E-8E98-A95DF3A811B7}"/>
              </a:ext>
            </a:extLst>
          </p:cNvPr>
          <p:cNvSpPr>
            <a:spLocks xmlns:a="http://schemas.openxmlformats.org/drawingml/2006/main" noGrp="1"/>
          </p:cNvSpPr>
          <p:nvPr/>
        </p:nvSpPr>
        <p:spPr>
          <a:xfrm xmlns:a="http://schemas.openxmlformats.org/drawingml/2006/main">
            <a:off x="609600" y="2590800"/>
            <a:ext cx="2000250" cy="1066800"/>
          </a:xfrm>
          <a:prstGeom xmlns:a="http://schemas.openxmlformats.org/drawingml/2006/main" prst="rect">
            <a:avLst/>
          </a:prstGeom>
          <a:solidFill xmlns:a="http://schemas.openxmlformats.org/drawingml/2006/main">
            <a:srgbClr val="122D36"/>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PB-0901-A</a:t>
            </a:r>
          </a:p>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100 kg received</a:t>
            </a:r>
          </a:p>
        </p:txBody>
      </p:sp>
      <p:sp>
        <p:nvSpPr>
          <p:cNvPr id="5" name="">
            <a:extLst xmlns:a="http://schemas.openxmlformats.org/drawingml/2006/main">
              <a:ext uri="{FF2B5EF4-FFF2-40B4-BE49-F238E27FC236}">
                <a16:creationId xmlns:a16="http://schemas.microsoft.com/office/drawing/2014/main" id="{D7BC225F-87D8-4107-B53F-C4DBD9FB00EF}"/>
              </a:ext>
            </a:extLst>
          </p:cNvPr>
          <p:cNvSpPr>
            <a:spLocks xmlns:a="http://schemas.openxmlformats.org/drawingml/2006/main" noGrp="1"/>
          </p:cNvSpPr>
          <p:nvPr/>
        </p:nvSpPr>
        <p:spPr>
          <a:xfrm xmlns:a="http://schemas.openxmlformats.org/drawingml/2006/main">
            <a:off x="3295650" y="2095500"/>
            <a:ext cx="2190750" cy="952500"/>
          </a:xfrm>
          <a:prstGeom xmlns:a="http://schemas.openxmlformats.org/drawingml/2006/main" prst="rect">
            <a:avLst/>
          </a:prstGeom>
          <a:solidFill xmlns:a="http://schemas.openxmlformats.org/drawingml/2006/main">
            <a:srgbClr val="F4F7F3"/>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22D36"/>
                </a:solidFill>
                <a:latin typeface="Helvetica Neue"/>
                <a:ea typeface="Helvetica Neue"/>
                <a:cs typeface="Helvetica Neue"/>
              </a:defRPr>
            </a:pPr>
            <a:r>
              <a:rPr sz="1875" b="1">
                <a:solidFill>
                  <a:srgbClr val="122D36"/>
                </a:solidFill>
                <a:latin typeface="Helvetica Neue"/>
                <a:ea typeface="Helvetica Neue"/>
                <a:cs typeface="Helvetica Neue"/>
              </a:rPr>
              <a:t>Oat bars</a:t>
            </a:r>
          </a:p>
          <a:p xmlns:a="http://schemas.openxmlformats.org/drawingml/2006/main">
            <a:pPr algn="ctr">
              <a:defRPr sz="1875" b="1">
                <a:solidFill>
                  <a:srgbClr val="122D36"/>
                </a:solidFill>
                <a:latin typeface="Helvetica Neue"/>
                <a:ea typeface="Helvetica Neue"/>
                <a:cs typeface="Helvetica Neue"/>
              </a:defRPr>
            </a:pPr>
            <a:r>
              <a:rPr sz="1875" b="1">
                <a:solidFill>
                  <a:srgbClr val="122D36"/>
                </a:solidFill>
                <a:latin typeface="Helvetica Neue"/>
                <a:ea typeface="Helvetica Neue"/>
                <a:cs typeface="Helvetica Neue"/>
              </a:rPr>
              <a:t>480 units</a:t>
            </a:r>
          </a:p>
        </p:txBody>
      </p:sp>
      <p:sp>
        <p:nvSpPr>
          <p:cNvPr id="6" name="">
            <a:extLst xmlns:a="http://schemas.openxmlformats.org/drawingml/2006/main">
              <a:ext uri="{FF2B5EF4-FFF2-40B4-BE49-F238E27FC236}">
                <a16:creationId xmlns:a16="http://schemas.microsoft.com/office/drawing/2014/main" id="{6348EFC0-ECA9-461A-8459-B8D34956A846}"/>
              </a:ext>
            </a:extLst>
          </p:cNvPr>
          <p:cNvSpPr>
            <a:spLocks xmlns:a="http://schemas.openxmlformats.org/drawingml/2006/main" noGrp="1"/>
          </p:cNvSpPr>
          <p:nvPr/>
        </p:nvSpPr>
        <p:spPr>
          <a:xfrm xmlns:a="http://schemas.openxmlformats.org/drawingml/2006/main">
            <a:off x="3295650" y="3419475"/>
            <a:ext cx="2190750" cy="952500"/>
          </a:xfrm>
          <a:prstGeom xmlns:a="http://schemas.openxmlformats.org/drawingml/2006/main" prst="rect">
            <a:avLst/>
          </a:prstGeom>
          <a:solidFill xmlns:a="http://schemas.openxmlformats.org/drawingml/2006/main">
            <a:srgbClr val="F4F7F3"/>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22D36"/>
                </a:solidFill>
                <a:latin typeface="Helvetica Neue"/>
                <a:ea typeface="Helvetica Neue"/>
                <a:cs typeface="Helvetica Neue"/>
              </a:defRPr>
            </a:pPr>
            <a:r>
              <a:rPr sz="1875" b="1">
                <a:solidFill>
                  <a:srgbClr val="122D36"/>
                </a:solidFill>
                <a:latin typeface="Helvetica Neue"/>
                <a:ea typeface="Helvetica Neue"/>
                <a:cs typeface="Helvetica Neue"/>
              </a:rPr>
              <a:t>Energy bites</a:t>
            </a:r>
          </a:p>
          <a:p xmlns:a="http://schemas.openxmlformats.org/drawingml/2006/main">
            <a:pPr algn="ctr">
              <a:defRPr sz="1875" b="1">
                <a:solidFill>
                  <a:srgbClr val="122D36"/>
                </a:solidFill>
                <a:latin typeface="Helvetica Neue"/>
                <a:ea typeface="Helvetica Neue"/>
                <a:cs typeface="Helvetica Neue"/>
              </a:defRPr>
            </a:pPr>
            <a:r>
              <a:rPr sz="1875" b="1">
                <a:solidFill>
                  <a:srgbClr val="122D36"/>
                </a:solidFill>
                <a:latin typeface="Helvetica Neue"/>
                <a:ea typeface="Helvetica Neue"/>
                <a:cs typeface="Helvetica Neue"/>
              </a:rPr>
              <a:t>320 units</a:t>
            </a:r>
          </a:p>
        </p:txBody>
      </p:sp>
      <p:sp>
        <p:nvSpPr>
          <p:cNvPr id="7" name="">
            <a:extLst xmlns:a="http://schemas.openxmlformats.org/drawingml/2006/main">
              <a:ext uri="{FF2B5EF4-FFF2-40B4-BE49-F238E27FC236}">
                <a16:creationId xmlns:a16="http://schemas.microsoft.com/office/drawing/2014/main" id="{FF54A811-9730-40F9-9112-C5082E5C3A17}"/>
              </a:ext>
            </a:extLst>
          </p:cNvPr>
          <p:cNvSpPr>
            <a:spLocks xmlns:a="http://schemas.openxmlformats.org/drawingml/2006/main" noGrp="1"/>
          </p:cNvSpPr>
          <p:nvPr/>
        </p:nvSpPr>
        <p:spPr>
          <a:xfrm xmlns:a="http://schemas.openxmlformats.org/drawingml/2006/main">
            <a:off x="9010650" y="2095500"/>
            <a:ext cx="2495550" cy="952500"/>
          </a:xfrm>
          <a:prstGeom xmlns:a="http://schemas.openxmlformats.org/drawingml/2006/main" prst="rect">
            <a:avLst/>
          </a:prstGeom>
          <a:solidFill xmlns:a="http://schemas.openxmlformats.org/drawingml/2006/main">
            <a:srgbClr val="136956"/>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600 shipped</a:t>
            </a:r>
          </a:p>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 customers</a:t>
            </a:r>
          </a:p>
        </p:txBody>
      </p:sp>
      <p:sp>
        <p:nvSpPr>
          <p:cNvPr id="8" name="">
            <a:extLst xmlns:a="http://schemas.openxmlformats.org/drawingml/2006/main">
              <a:ext uri="{FF2B5EF4-FFF2-40B4-BE49-F238E27FC236}">
                <a16:creationId xmlns:a16="http://schemas.microsoft.com/office/drawing/2014/main" id="{7DB1C37A-5071-4208-92D0-87A644E5C3EE}"/>
              </a:ext>
            </a:extLst>
          </p:cNvPr>
          <p:cNvSpPr>
            <a:spLocks xmlns:a="http://schemas.openxmlformats.org/drawingml/2006/main" noGrp="1"/>
          </p:cNvSpPr>
          <p:nvPr/>
        </p:nvSpPr>
        <p:spPr>
          <a:xfrm xmlns:a="http://schemas.openxmlformats.org/drawingml/2006/main">
            <a:off x="9010650" y="3419475"/>
            <a:ext cx="2495550" cy="952500"/>
          </a:xfrm>
          <a:prstGeom xmlns:a="http://schemas.openxmlformats.org/drawingml/2006/main" prst="rect">
            <a:avLst/>
          </a:prstGeom>
          <a:solidFill xmlns:a="http://schemas.openxmlformats.org/drawingml/2006/main">
            <a:srgbClr val="F4F7F3"/>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22D36"/>
                </a:solidFill>
                <a:latin typeface="Helvetica Neue"/>
                <a:ea typeface="Helvetica Neue"/>
                <a:cs typeface="Helvetica Neue"/>
              </a:defRPr>
            </a:pPr>
            <a:r>
              <a:rPr sz="1875" b="1">
                <a:solidFill>
                  <a:srgbClr val="122D36"/>
                </a:solidFill>
                <a:latin typeface="Helvetica Neue"/>
                <a:ea typeface="Helvetica Neue"/>
                <a:cs typeface="Helvetica Neue"/>
              </a:rPr>
              <a:t>200 units</a:t>
            </a:r>
          </a:p>
          <a:p xmlns:a="http://schemas.openxmlformats.org/drawingml/2006/main">
            <a:pPr algn="ctr">
              <a:defRPr sz="1875" b="1">
                <a:solidFill>
                  <a:srgbClr val="122D36"/>
                </a:solidFill>
                <a:latin typeface="Helvetica Neue"/>
                <a:ea typeface="Helvetica Neue"/>
                <a:cs typeface="Helvetica Neue"/>
              </a:defRPr>
            </a:pPr>
            <a:r>
              <a:rPr sz="1875" b="1">
                <a:solidFill>
                  <a:srgbClr val="122D36"/>
                </a:solidFill>
                <a:latin typeface="Helvetica Neue"/>
                <a:ea typeface="Helvetica Neue"/>
                <a:cs typeface="Helvetica Neue"/>
              </a:rPr>
              <a:t>on site</a:t>
            </a:r>
          </a:p>
        </p:txBody>
      </p:sp>
      <p:sp>
        <p:nvSpPr>
          <p:cNvPr id="9" name="">
            <a:extLst xmlns:a="http://schemas.openxmlformats.org/drawingml/2006/main">
              <a:ext uri="{FF2B5EF4-FFF2-40B4-BE49-F238E27FC236}">
                <a16:creationId xmlns:a16="http://schemas.microsoft.com/office/drawing/2014/main" id="{9FFC4BC3-21F0-4957-BD42-950ECA730D58}"/>
              </a:ext>
            </a:extLst>
          </p:cNvPr>
          <p:cNvSpPr>
            <a:spLocks xmlns:a="http://schemas.openxmlformats.org/drawingml/2006/main" noGrp="1"/>
          </p:cNvSpPr>
          <p:nvPr/>
        </p:nvSpPr>
        <p:spPr>
          <a:xfrm xmlns:a="http://schemas.openxmlformats.org/drawingml/2006/main">
            <a:off x="6334125" y="2590800"/>
            <a:ext cx="1809750" cy="1066800"/>
          </a:xfrm>
          <a:prstGeom xmlns:a="http://schemas.openxmlformats.org/drawingml/2006/main" prst="rect">
            <a:avLst/>
          </a:prstGeom>
          <a:solidFill xmlns:a="http://schemas.openxmlformats.org/drawingml/2006/main">
            <a:srgbClr val="F4F7F3"/>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36956"/>
                </a:solidFill>
                <a:latin typeface="Helvetica Neue"/>
                <a:ea typeface="Helvetica Neue"/>
                <a:cs typeface="Helvetica Neue"/>
              </a:defRPr>
            </a:pPr>
            <a:r>
              <a:rPr sz="2100" b="1">
                <a:solidFill>
                  <a:srgbClr val="136956"/>
                </a:solidFill>
                <a:latin typeface="Helvetica Neue"/>
                <a:ea typeface="Helvetica Neue"/>
                <a:cs typeface="Helvetica Neue"/>
              </a:rPr>
              <a:t>800 units</a:t>
            </a:r>
          </a:p>
          <a:p xmlns:a="http://schemas.openxmlformats.org/drawingml/2006/main">
            <a:pPr algn="ctr">
              <a:defRPr sz="2100" b="1">
                <a:solidFill>
                  <a:srgbClr val="136956"/>
                </a:solidFill>
                <a:latin typeface="Helvetica Neue"/>
                <a:ea typeface="Helvetica Neue"/>
                <a:cs typeface="Helvetica Neue"/>
              </a:defRPr>
            </a:pPr>
            <a:r>
              <a:rPr sz="2100" b="1">
                <a:solidFill>
                  <a:srgbClr val="136956"/>
                </a:solidFill>
                <a:latin typeface="Helvetica Neue"/>
                <a:ea typeface="Helvetica Neue"/>
                <a:cs typeface="Helvetica Neue"/>
              </a:rPr>
              <a:t>confirmed</a:t>
            </a:r>
          </a:p>
        </p:txBody>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flipV="1">
            <a:off x="2609850" y="2571750"/>
            <a:ext cx="685800" cy="552450"/>
          </a:xfrm>
          <a:prstGeom xmlns:a="http://schemas.openxmlformats.org/drawingml/2006/main" prst="bentConnector3">
            <a:avLst>
              <a:gd name="adj1" fmla="val 50000"/>
            </a:avLst>
          </a:prstGeom>
          <a:ln xmlns:a="http://schemas.openxmlformats.org/drawingml/2006/main" w="19050">
            <a:solidFill>
              <a:srgbClr val="136956"/>
            </a:solidFill>
            <a:prstDash val="solid"/>
            <a:tailEnd type="arrow" w="med" len="med"/>
          </a:ln>
        </p:spPr>
      </p:cxnSp>
      <p:cxnSp>
        <p:nvCxnSpPr>
          <p:cNvPr id="28" name=""/>
          <p:cNvCxnSpPr>
            <a:stCxn xmlns:a="http://schemas.openxmlformats.org/drawingml/2006/main" id="4" idx="3"/>
            <a:endCxn xmlns:a="http://schemas.openxmlformats.org/drawingml/2006/main" id="6" idx="1"/>
          </p:cNvCxnSpPr>
          <p:nvPr/>
        </p:nvCxnSpPr>
        <p:spPr>
          <a:xfrm xmlns:a="http://schemas.openxmlformats.org/drawingml/2006/main">
            <a:off x="2609850" y="3124200"/>
            <a:ext cx="685800" cy="771525"/>
          </a:xfrm>
          <a:prstGeom xmlns:a="http://schemas.openxmlformats.org/drawingml/2006/main" prst="bentConnector3">
            <a:avLst>
              <a:gd name="adj1" fmla="val 50000"/>
            </a:avLst>
          </a:prstGeom>
          <a:ln xmlns:a="http://schemas.openxmlformats.org/drawingml/2006/main" w="19050">
            <a:solidFill>
              <a:srgbClr val="136956"/>
            </a:solidFill>
            <a:prstDash val="solid"/>
            <a:tailEnd type="arrow" w="med" len="med"/>
          </a:ln>
        </p:spPr>
      </p:cxnSp>
      <p:cxnSp>
        <p:nvCxnSpPr>
          <p:cNvPr id="29" name=""/>
          <p:cNvCxnSpPr>
            <a:stCxn xmlns:a="http://schemas.openxmlformats.org/drawingml/2006/main" id="5" idx="3"/>
            <a:endCxn xmlns:a="http://schemas.openxmlformats.org/drawingml/2006/main" id="9" idx="1"/>
          </p:cNvCxnSpPr>
          <p:nvPr/>
        </p:nvCxnSpPr>
        <p:spPr>
          <a:xfrm xmlns:a="http://schemas.openxmlformats.org/drawingml/2006/main">
            <a:off x="5486400" y="2571750"/>
            <a:ext cx="847725" cy="552450"/>
          </a:xfrm>
          <a:prstGeom xmlns:a="http://schemas.openxmlformats.org/drawingml/2006/main" prst="bentConnector3">
            <a:avLst>
              <a:gd name="adj1" fmla="val 50000"/>
            </a:avLst>
          </a:prstGeom>
          <a:ln xmlns:a="http://schemas.openxmlformats.org/drawingml/2006/main" w="19050">
            <a:solidFill>
              <a:srgbClr val="136956"/>
            </a:solidFill>
            <a:prstDash val="solid"/>
            <a:tailEnd type="arrow" w="med" len="med"/>
          </a:ln>
        </p:spPr>
      </p:cxnSp>
      <p:cxnSp>
        <p:nvCxnSpPr>
          <p:cNvPr id="30" name=""/>
          <p:cNvCxnSpPr>
            <a:stCxn xmlns:a="http://schemas.openxmlformats.org/drawingml/2006/main" id="6" idx="3"/>
            <a:endCxn xmlns:a="http://schemas.openxmlformats.org/drawingml/2006/main" id="9" idx="1"/>
          </p:cNvCxnSpPr>
          <p:nvPr/>
        </p:nvCxnSpPr>
        <p:spPr>
          <a:xfrm xmlns:a="http://schemas.openxmlformats.org/drawingml/2006/main" flipV="1">
            <a:off x="5486400" y="3124200"/>
            <a:ext cx="847725" cy="771525"/>
          </a:xfrm>
          <a:prstGeom xmlns:a="http://schemas.openxmlformats.org/drawingml/2006/main" prst="bentConnector3">
            <a:avLst>
              <a:gd name="adj1" fmla="val 50000"/>
            </a:avLst>
          </a:prstGeom>
          <a:ln xmlns:a="http://schemas.openxmlformats.org/drawingml/2006/main" w="19050">
            <a:solidFill>
              <a:srgbClr val="136956"/>
            </a:solidFill>
            <a:prstDash val="solid"/>
            <a:tailEnd type="arrow" w="med" len="med"/>
          </a:ln>
        </p:spPr>
      </p:cxnSp>
      <p:cxnSp>
        <p:nvCxnSpPr>
          <p:cNvPr id="31" name=""/>
          <p:cNvCxnSpPr>
            <a:stCxn xmlns:a="http://schemas.openxmlformats.org/drawingml/2006/main" id="9" idx="3"/>
            <a:endCxn xmlns:a="http://schemas.openxmlformats.org/drawingml/2006/main" id="7" idx="1"/>
          </p:cNvCxnSpPr>
          <p:nvPr/>
        </p:nvCxnSpPr>
        <p:spPr>
          <a:xfrm xmlns:a="http://schemas.openxmlformats.org/drawingml/2006/main" flipV="1">
            <a:off x="8143875" y="2571750"/>
            <a:ext cx="866775" cy="552450"/>
          </a:xfrm>
          <a:prstGeom xmlns:a="http://schemas.openxmlformats.org/drawingml/2006/main" prst="bentConnector3">
            <a:avLst>
              <a:gd name="adj1" fmla="val 50000"/>
            </a:avLst>
          </a:prstGeom>
          <a:ln xmlns:a="http://schemas.openxmlformats.org/drawingml/2006/main" w="19050">
            <a:solidFill>
              <a:srgbClr val="136956"/>
            </a:solidFill>
            <a:prstDash val="solid"/>
            <a:tailEnd type="arrow" w="med" len="med"/>
          </a:ln>
        </p:spPr>
      </p:cxnSp>
      <p:cxnSp>
        <p:nvCxnSpPr>
          <p:cNvPr id="32" name=""/>
          <p:cNvCxnSpPr>
            <a:stCxn xmlns:a="http://schemas.openxmlformats.org/drawingml/2006/main" id="9" idx="3"/>
            <a:endCxn xmlns:a="http://schemas.openxmlformats.org/drawingml/2006/main" id="8" idx="1"/>
          </p:cNvCxnSpPr>
          <p:nvPr/>
        </p:nvCxnSpPr>
        <p:spPr>
          <a:xfrm xmlns:a="http://schemas.openxmlformats.org/drawingml/2006/main">
            <a:off x="8143875" y="3124200"/>
            <a:ext cx="866775" cy="771525"/>
          </a:xfrm>
          <a:prstGeom xmlns:a="http://schemas.openxmlformats.org/drawingml/2006/main" prst="bentConnector3">
            <a:avLst>
              <a:gd name="adj1" fmla="val 50000"/>
            </a:avLst>
          </a:prstGeom>
          <a:ln xmlns:a="http://schemas.openxmlformats.org/drawingml/2006/main" w="19050">
            <a:solidFill>
              <a:srgbClr val="136956"/>
            </a:solidFill>
            <a:prstDash val="solid"/>
            <a:tailEnd type="arrow" w="med" len="med"/>
          </a:ln>
        </p:spPr>
      </p:cxnSp>
      <p:sp>
        <p:nvSpPr>
          <p:cNvPr id="16" name="">
            <a:extLst xmlns:a="http://schemas.openxmlformats.org/drawingml/2006/main">
              <a:ext uri="{FF2B5EF4-FFF2-40B4-BE49-F238E27FC236}">
                <a16:creationId xmlns:a16="http://schemas.microsoft.com/office/drawing/2014/main" id="{F1EB8A74-B63C-4C06-93CC-2A0149D24C96}"/>
              </a:ext>
            </a:extLst>
          </p:cNvPr>
          <p:cNvSpPr>
            <a:spLocks xmlns:a="http://schemas.openxmlformats.org/drawingml/2006/main" noGrp="1"/>
          </p:cNvSpPr>
          <p:nvPr/>
        </p:nvSpPr>
        <p:spPr>
          <a:xfrm xmlns:a="http://schemas.openxmlformats.org/drawingml/2006/main">
            <a:off x="628650" y="49149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2D36"/>
                </a:solidFill>
                <a:latin typeface="Helvetica Neue"/>
                <a:ea typeface="Helvetica Neue"/>
                <a:cs typeface="Helvetica Neue"/>
              </a:defRPr>
            </a:pPr>
            <a:r>
              <a:rPr sz="1950" b="0">
                <a:solidFill>
                  <a:srgbClr val="122D36"/>
                </a:solidFill>
                <a:latin typeface="Helvetica Neue"/>
                <a:ea typeface="Helvetica Neue"/>
                <a:cs typeface="Helvetica Neue"/>
              </a:rPr>
              <a:t>Source records support each relationship. Finished units and ingredient kilograms stay separate.</a:t>
            </a:r>
          </a:p>
        </p:txBody>
      </p:sp>
      <p:sp>
        <p:nvSpPr>
          <p:cNvPr id="17" name="">
            <a:extLst xmlns:a="http://schemas.openxmlformats.org/drawingml/2006/main">
              <a:ext uri="{FF2B5EF4-FFF2-40B4-BE49-F238E27FC236}">
                <a16:creationId xmlns:a16="http://schemas.microsoft.com/office/drawing/2014/main" id="{CA63E4DF-B91E-42DE-8CC5-6AE6C465E5AF}"/>
              </a:ext>
            </a:extLst>
          </p:cNvPr>
          <p:cNvSpPr>
            <a:spLocks xmlns:a="http://schemas.openxmlformats.org/drawingml/2006/main" noGrp="1"/>
          </p:cNvSpPr>
          <p:nvPr/>
        </p:nvSpPr>
        <p:spPr>
          <a:xfrm xmlns:a="http://schemas.openxmlformats.org/drawingml/2006/main">
            <a:off x="628650" y="56483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B6409"/>
                </a:solidFill>
                <a:latin typeface="Helvetica Neue"/>
                <a:ea typeface="Helvetica Neue"/>
                <a:cs typeface="Helvetica Neue"/>
              </a:defRPr>
            </a:pPr>
            <a:r>
              <a:rPr sz="1725" b="1">
                <a:solidFill>
                  <a:srgbClr val="9B6409"/>
                </a:solidFill>
                <a:latin typeface="Helvetica Neue"/>
                <a:ea typeface="Helvetica Neue"/>
                <a:cs typeface="Helvetica Neue"/>
              </a:rPr>
              <a:t>A separate 240-cookie batch remains unresolved and on hold in the case.</a:t>
            </a:r>
          </a:p>
        </p:txBody>
      </p:sp>
    </p:spTree>
    <p:extLst>
      <p:ext uri="{BB962C8B-B14F-4D97-AF65-F5344CB8AC3E}">
        <p14:creationId xmlns:p14="http://schemas.microsoft.com/office/powerpoint/2010/main" val="12138740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B17CD4-5E9E-4457-9353-CC63175BDCBD}"/>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2D36"/>
                </a:solidFill>
                <a:latin typeface="Helvetica Neue"/>
                <a:ea typeface="Helvetica Neue"/>
                <a:cs typeface="Helvetica Neue"/>
              </a:defRPr>
            </a:pPr>
            <a:r>
              <a:rPr sz="3450" b="1">
                <a:solidFill>
                  <a:srgbClr val="122D36"/>
                </a:solidFill>
                <a:latin typeface="Helvetica Neue"/>
                <a:ea typeface="Helvetica Neue"/>
                <a:cs typeface="Helvetica Neue"/>
              </a:rPr>
              <a:t>Uncertainty changes only with evidence</a:t>
            </a:r>
          </a:p>
        </p:txBody>
      </p:sp>
      <p:sp>
        <p:nvSpPr>
          <p:cNvPr id="2" name="">
            <a:extLst xmlns:a="http://schemas.openxmlformats.org/drawingml/2006/main">
              <a:ext uri="{FF2B5EF4-FFF2-40B4-BE49-F238E27FC236}">
                <a16:creationId xmlns:a16="http://schemas.microsoft.com/office/drawing/2014/main" id="{0D0F69CC-72D1-4571-A3A5-3DAFFB28804B}"/>
              </a:ext>
            </a:extLst>
          </p:cNvPr>
          <p:cNvSpPr>
            <a:spLocks xmlns:a="http://schemas.openxmlformats.org/drawingml/2006/main" noGrp="1"/>
          </p:cNvSpPr>
          <p:nvPr/>
        </p:nvSpPr>
        <p:spPr>
          <a:xfrm xmlns:a="http://schemas.openxmlformats.org/drawingml/2006/main">
            <a:off x="609600" y="637222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970"/>
                </a:solidFill>
                <a:latin typeface="Helvetica Neue"/>
                <a:ea typeface="Helvetica Neue"/>
                <a:cs typeface="Helvetica Neue"/>
              </a:defRPr>
            </a:pPr>
            <a:r>
              <a:rPr sz="1200" b="0">
                <a:solidFill>
                  <a:srgbClr val="526970"/>
                </a:solidFill>
                <a:latin typeface="Helvetica Neue"/>
                <a:ea typeface="Helvetica Neue"/>
                <a:cs typeface="Helvetica Neue"/>
              </a:rPr>
              <a:t>RecallRoom   /   3</a:t>
            </a:r>
          </a:p>
        </p:txBody>
      </p:sp>
      <p:sp>
        <p:nvSpPr>
          <p:cNvPr id="3" name="">
            <a:extLst xmlns:a="http://schemas.openxmlformats.org/drawingml/2006/main">
              <a:ext uri="{FF2B5EF4-FFF2-40B4-BE49-F238E27FC236}">
                <a16:creationId xmlns:a16="http://schemas.microsoft.com/office/drawing/2014/main" id="{3440C86D-67D9-4B94-846A-E94D13B2D8ED}"/>
              </a:ext>
            </a:extLst>
          </p:cNvPr>
          <p:cNvSpPr>
            <a:spLocks xmlns:a="http://schemas.openxmlformats.org/drawingml/2006/main" noGrp="1"/>
          </p:cNvSpPr>
          <p:nvPr/>
        </p:nvSpPr>
        <p:spPr>
          <a:xfrm xmlns:a="http://schemas.openxmlformats.org/drawingml/2006/main">
            <a:off x="619125" y="14763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B6409"/>
                </a:solidFill>
                <a:latin typeface="Helvetica Neue"/>
                <a:ea typeface="Helvetica Neue"/>
                <a:cs typeface="Helvetica Neue"/>
              </a:defRPr>
            </a:pPr>
            <a:r>
              <a:rPr sz="2250" b="1">
                <a:solidFill>
                  <a:srgbClr val="9B6409"/>
                </a:solidFill>
                <a:latin typeface="Helvetica Neue"/>
                <a:ea typeface="Helvetica Neue"/>
                <a:cs typeface="Helvetica Neue"/>
              </a:rPr>
              <a:t>Before review</a:t>
            </a:r>
          </a:p>
        </p:txBody>
      </p:sp>
      <p:sp>
        <p:nvSpPr>
          <p:cNvPr id="4" name="">
            <a:extLst xmlns:a="http://schemas.openxmlformats.org/drawingml/2006/main">
              <a:ext uri="{FF2B5EF4-FFF2-40B4-BE49-F238E27FC236}">
                <a16:creationId xmlns:a16="http://schemas.microsoft.com/office/drawing/2014/main" id="{DD76F49D-0840-4C0F-88C0-4E5FA30673D0}"/>
              </a:ext>
            </a:extLst>
          </p:cNvPr>
          <p:cNvSpPr>
            <a:spLocks xmlns:a="http://schemas.openxmlformats.org/drawingml/2006/main" noGrp="1"/>
          </p:cNvSpPr>
          <p:nvPr/>
        </p:nvSpPr>
        <p:spPr>
          <a:xfrm xmlns:a="http://schemas.openxmlformats.org/drawingml/2006/main">
            <a:off x="619125" y="2105025"/>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22D36"/>
                </a:solidFill>
                <a:latin typeface="Helvetica Neue"/>
                <a:ea typeface="Helvetica Neue"/>
                <a:cs typeface="Helvetica Neue"/>
              </a:defRPr>
            </a:pPr>
            <a:r>
              <a:rPr sz="3975" b="1">
                <a:solidFill>
                  <a:srgbClr val="122D36"/>
                </a:solidFill>
                <a:latin typeface="Helvetica Neue"/>
                <a:ea typeface="Helvetica Neue"/>
                <a:cs typeface="Helvetica Neue"/>
              </a:rPr>
              <a:t>240 cookies</a:t>
            </a:r>
          </a:p>
        </p:txBody>
      </p:sp>
      <p:sp>
        <p:nvSpPr>
          <p:cNvPr id="5" name="">
            <a:extLst xmlns:a="http://schemas.openxmlformats.org/drawingml/2006/main">
              <a:ext uri="{FF2B5EF4-FFF2-40B4-BE49-F238E27FC236}">
                <a16:creationId xmlns:a16="http://schemas.microsoft.com/office/drawing/2014/main" id="{EEF09B64-D96B-4A98-B1A1-1782D3792A5B}"/>
              </a:ext>
            </a:extLst>
          </p:cNvPr>
          <p:cNvSpPr>
            <a:spLocks xmlns:a="http://schemas.openxmlformats.org/drawingml/2006/main" noGrp="1"/>
          </p:cNvSpPr>
          <p:nvPr/>
        </p:nvSpPr>
        <p:spPr>
          <a:xfrm xmlns:a="http://schemas.openxmlformats.org/drawingml/2006/main">
            <a:off x="638175" y="3038475"/>
            <a:ext cx="4762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2D36"/>
                </a:solidFill>
                <a:latin typeface="Helvetica Neue"/>
                <a:ea typeface="Helvetica Neue"/>
                <a:cs typeface="Helvetica Neue"/>
              </a:defRPr>
            </a:pPr>
            <a:r>
              <a:rPr sz="2025" b="0">
                <a:solidFill>
                  <a:srgbClr val="122D36"/>
                </a:solidFill>
                <a:latin typeface="Helvetica Neue"/>
                <a:ea typeface="Helvetica Neue"/>
                <a:cs typeface="Helvetica Neue"/>
              </a:rPr>
              <a:t>The lot reference is ambiguous.</a:t>
            </a:r>
          </a:p>
          <a:p xmlns:a="http://schemas.openxmlformats.org/drawingml/2006/main">
            <a:pPr>
              <a:defRPr sz="2025" b="0">
                <a:solidFill>
                  <a:srgbClr val="122D36"/>
                </a:solidFill>
                <a:latin typeface="Helvetica Neue"/>
                <a:ea typeface="Helvetica Neue"/>
                <a:cs typeface="Helvetica Neue"/>
              </a:defRPr>
            </a:pPr>
            <a:r>
              <a:rPr sz="2025" b="0">
                <a:solidFill>
                  <a:srgbClr val="122D36"/>
                </a:solidFill>
                <a:latin typeface="Helvetica Neue"/>
                <a:ea typeface="Helvetica Neue"/>
                <a:cs typeface="Helvetica Neue"/>
              </a:rPr>
              <a:t>120 shipped units require investigation.</a:t>
            </a:r>
          </a:p>
          <a:p xmlns:a="http://schemas.openxmlformats.org/drawingml/2006/main">
            <a:pPr>
              <a:defRPr sz="2025" b="0">
                <a:solidFill>
                  <a:srgbClr val="122D36"/>
                </a:solidFill>
                <a:latin typeface="Helvetica Neue"/>
                <a:ea typeface="Helvetica Neue"/>
                <a:cs typeface="Helvetica Neue"/>
              </a:defRPr>
            </a:pPr>
            <a:r>
              <a:rPr sz="2025" b="0">
                <a:solidFill>
                  <a:srgbClr val="122D36"/>
                </a:solidFill>
                <a:latin typeface="Helvetica Neue"/>
                <a:ea typeface="Helvetica Neue"/>
                <a:cs typeface="Helvetica Neue"/>
              </a:rPr>
              <a:t>The case keeps this exposure visible.</a:t>
            </a:r>
          </a:p>
        </p:txBody>
      </p:sp>
      <p:sp>
        <p:nvSpPr>
          <p:cNvPr id="6" name="">
            <a:extLst xmlns:a="http://schemas.openxmlformats.org/drawingml/2006/main">
              <a:ext uri="{FF2B5EF4-FFF2-40B4-BE49-F238E27FC236}">
                <a16:creationId xmlns:a16="http://schemas.microsoft.com/office/drawing/2014/main" id="{AE9EF39C-78F2-432C-87C9-1D1519A36096}"/>
              </a:ext>
            </a:extLst>
          </p:cNvPr>
          <p:cNvSpPr>
            <a:spLocks xmlns:a="http://schemas.openxmlformats.org/drawingml/2006/main" noGrp="1"/>
          </p:cNvSpPr>
          <p:nvPr/>
        </p:nvSpPr>
        <p:spPr>
          <a:xfrm xmlns:a="http://schemas.openxmlformats.org/drawingml/2006/main">
            <a:off x="619125" y="467677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9B6409"/>
                </a:solidFill>
                <a:latin typeface="Helvetica Neue"/>
                <a:ea typeface="Helvetica Neue"/>
                <a:cs typeface="Helvetica Neue"/>
              </a:defRPr>
            </a:pPr>
            <a:r>
              <a:rPr sz="3525" b="1">
                <a:solidFill>
                  <a:srgbClr val="9B6409"/>
                </a:solidFill>
                <a:latin typeface="Helvetica Neue"/>
                <a:ea typeface="Helvetica Neue"/>
                <a:cs typeface="Helvetica Neue"/>
              </a:rPr>
              <a:t>40-50 kg</a:t>
            </a:r>
          </a:p>
        </p:txBody>
      </p:sp>
      <p:sp>
        <p:nvSpPr>
          <p:cNvPr id="7" name="">
            <a:extLst xmlns:a="http://schemas.openxmlformats.org/drawingml/2006/main">
              <a:ext uri="{FF2B5EF4-FFF2-40B4-BE49-F238E27FC236}">
                <a16:creationId xmlns:a16="http://schemas.microsoft.com/office/drawing/2014/main" id="{D4820EFF-AB26-4549-945A-9B7CE26590CB}"/>
              </a:ext>
            </a:extLst>
          </p:cNvPr>
          <p:cNvSpPr>
            <a:spLocks xmlns:a="http://schemas.openxmlformats.org/drawingml/2006/main" noGrp="1"/>
          </p:cNvSpPr>
          <p:nvPr/>
        </p:nvSpPr>
        <p:spPr>
          <a:xfrm xmlns:a="http://schemas.openxmlformats.org/drawingml/2006/main">
            <a:off x="638175" y="541020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970"/>
                </a:solidFill>
                <a:latin typeface="Helvetica Neue"/>
                <a:ea typeface="Helvetica Neue"/>
                <a:cs typeface="Helvetica Neue"/>
              </a:defRPr>
            </a:pPr>
            <a:r>
              <a:rPr sz="1875" b="0">
                <a:solidFill>
                  <a:srgbClr val="526970"/>
                </a:solidFill>
                <a:latin typeface="Helvetica Neue"/>
                <a:ea typeface="Helvetica Neue"/>
                <a:cs typeface="Helvetica Neue"/>
              </a:rPr>
              <a:t>Lot A ingredient remaining</a:t>
            </a:r>
          </a:p>
        </p:txBody>
      </p:sp>
      <p:sp>
        <p:nvSpPr>
          <p:cNvPr id="8" name="">
            <a:extLst xmlns:a="http://schemas.openxmlformats.org/drawingml/2006/main">
              <a:ext uri="{FF2B5EF4-FFF2-40B4-BE49-F238E27FC236}">
                <a16:creationId xmlns:a16="http://schemas.microsoft.com/office/drawing/2014/main" id="{A4F36799-4770-4884-936D-5482167FDC95}"/>
              </a:ext>
            </a:extLst>
          </p:cNvPr>
          <p:cNvSpPr>
            <a:spLocks xmlns:a="http://schemas.openxmlformats.org/drawingml/2006/main" noGrp="1"/>
          </p:cNvSpPr>
          <p:nvPr/>
        </p:nvSpPr>
        <p:spPr>
          <a:xfrm xmlns:a="http://schemas.openxmlformats.org/drawingml/2006/main">
            <a:off x="6572250" y="1476375"/>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6956"/>
                </a:solidFill>
                <a:latin typeface="Helvetica Neue"/>
                <a:ea typeface="Helvetica Neue"/>
                <a:cs typeface="Helvetica Neue"/>
              </a:defRPr>
            </a:pPr>
            <a:r>
              <a:rPr sz="2250" b="1">
                <a:solidFill>
                  <a:srgbClr val="136956"/>
                </a:solidFill>
                <a:latin typeface="Helvetica Neue"/>
                <a:ea typeface="Helvetica Neue"/>
                <a:cs typeface="Helvetica Neue"/>
              </a:rPr>
              <a:t>After a reviewed correction</a:t>
            </a:r>
          </a:p>
        </p:txBody>
      </p:sp>
      <p:sp>
        <p:nvSpPr>
          <p:cNvPr id="9" name="">
            <a:extLst xmlns:a="http://schemas.openxmlformats.org/drawingml/2006/main">
              <a:ext uri="{FF2B5EF4-FFF2-40B4-BE49-F238E27FC236}">
                <a16:creationId xmlns:a16="http://schemas.microsoft.com/office/drawing/2014/main" id="{58FBE2A1-AF1F-46DF-B5AD-9C9DB4AC1C62}"/>
              </a:ext>
            </a:extLst>
          </p:cNvPr>
          <p:cNvSpPr>
            <a:spLocks xmlns:a="http://schemas.openxmlformats.org/drawingml/2006/main" noGrp="1"/>
          </p:cNvSpPr>
          <p:nvPr/>
        </p:nvSpPr>
        <p:spPr>
          <a:xfrm xmlns:a="http://schemas.openxmlformats.org/drawingml/2006/main">
            <a:off x="6572250" y="2105025"/>
            <a:ext cx="5000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2D36"/>
                </a:solidFill>
                <a:latin typeface="Helvetica Neue"/>
                <a:ea typeface="Helvetica Neue"/>
                <a:cs typeface="Helvetica Neue"/>
              </a:defRPr>
            </a:pPr>
            <a:r>
              <a:rPr sz="3600" b="1">
                <a:solidFill>
                  <a:srgbClr val="122D36"/>
                </a:solidFill>
                <a:latin typeface="Helvetica Neue"/>
                <a:ea typeface="Helvetica Neue"/>
                <a:cs typeface="Helvetica Neue"/>
              </a:rPr>
              <a:t>Lot B confirmed</a:t>
            </a:r>
          </a:p>
        </p:txBody>
      </p:sp>
      <p:sp>
        <p:nvSpPr>
          <p:cNvPr id="10" name="">
            <a:extLst xmlns:a="http://schemas.openxmlformats.org/drawingml/2006/main">
              <a:ext uri="{FF2B5EF4-FFF2-40B4-BE49-F238E27FC236}">
                <a16:creationId xmlns:a16="http://schemas.microsoft.com/office/drawing/2014/main" id="{60E6FA85-9BE5-4403-BC20-5E40F29958E3}"/>
              </a:ext>
            </a:extLst>
          </p:cNvPr>
          <p:cNvSpPr>
            <a:spLocks xmlns:a="http://schemas.openxmlformats.org/drawingml/2006/main" noGrp="1"/>
          </p:cNvSpPr>
          <p:nvPr/>
        </p:nvSpPr>
        <p:spPr>
          <a:xfrm xmlns:a="http://schemas.openxmlformats.org/drawingml/2006/main">
            <a:off x="6591300" y="3038475"/>
            <a:ext cx="4972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2D36"/>
                </a:solidFill>
                <a:latin typeface="Helvetica Neue"/>
                <a:ea typeface="Helvetica Neue"/>
                <a:cs typeface="Helvetica Neue"/>
              </a:defRPr>
            </a:pPr>
            <a:r>
              <a:rPr sz="2025" b="0">
                <a:solidFill>
                  <a:srgbClr val="122D36"/>
                </a:solidFill>
                <a:latin typeface="Helvetica Neue"/>
                <a:ea typeface="Helvetica Neue"/>
                <a:cs typeface="Helvetica Neue"/>
              </a:rPr>
              <a:t>A reviewer attaches supporting evidence.</a:t>
            </a:r>
          </a:p>
          <a:p xmlns:a="http://schemas.openxmlformats.org/drawingml/2006/main">
            <a:pPr>
              <a:defRPr sz="2025" b="0">
                <a:solidFill>
                  <a:srgbClr val="122D36"/>
                </a:solidFill>
                <a:latin typeface="Helvetica Neue"/>
                <a:ea typeface="Helvetica Neue"/>
                <a:cs typeface="Helvetica Neue"/>
              </a:defRPr>
            </a:pPr>
            <a:r>
              <a:rPr sz="2025" b="0">
                <a:solidFill>
                  <a:srgbClr val="122D36"/>
                </a:solidFill>
                <a:latin typeface="Helvetica Neue"/>
                <a:ea typeface="Helvetica Neue"/>
                <a:cs typeface="Helvetica Neue"/>
              </a:rPr>
              <a:t>The decision log records the correction.</a:t>
            </a:r>
          </a:p>
          <a:p xmlns:a="http://schemas.openxmlformats.org/drawingml/2006/main">
            <a:pPr>
              <a:defRPr sz="2025" b="0">
                <a:solidFill>
                  <a:srgbClr val="122D36"/>
                </a:solidFill>
                <a:latin typeface="Helvetica Neue"/>
                <a:ea typeface="Helvetica Neue"/>
                <a:cs typeface="Helvetica Neue"/>
              </a:defRPr>
            </a:pPr>
            <a:r>
              <a:rPr sz="2025" b="0">
                <a:solidFill>
                  <a:srgbClr val="122D36"/>
                </a:solidFill>
                <a:latin typeface="Helvetica Neue"/>
                <a:ea typeface="Helvetica Neue"/>
                <a:cs typeface="Helvetica Neue"/>
              </a:rPr>
              <a:t>The graph recalculates Lot A exposure.</a:t>
            </a:r>
          </a:p>
        </p:txBody>
      </p:sp>
      <p:sp>
        <p:nvSpPr>
          <p:cNvPr id="11" name="">
            <a:extLst xmlns:a="http://schemas.openxmlformats.org/drawingml/2006/main">
              <a:ext uri="{FF2B5EF4-FFF2-40B4-BE49-F238E27FC236}">
                <a16:creationId xmlns:a16="http://schemas.microsoft.com/office/drawing/2014/main" id="{649589FA-46B7-4FF0-B0DE-D07832EDCBFC}"/>
              </a:ext>
            </a:extLst>
          </p:cNvPr>
          <p:cNvSpPr>
            <a:spLocks xmlns:a="http://schemas.openxmlformats.org/drawingml/2006/main" noGrp="1"/>
          </p:cNvSpPr>
          <p:nvPr/>
        </p:nvSpPr>
        <p:spPr>
          <a:xfrm xmlns:a="http://schemas.openxmlformats.org/drawingml/2006/main">
            <a:off x="6572250" y="4676775"/>
            <a:ext cx="5000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36956"/>
                </a:solidFill>
                <a:latin typeface="Helvetica Neue"/>
                <a:ea typeface="Helvetica Neue"/>
                <a:cs typeface="Helvetica Neue"/>
              </a:defRPr>
            </a:pPr>
            <a:r>
              <a:rPr sz="3525" b="1">
                <a:solidFill>
                  <a:srgbClr val="136956"/>
                </a:solidFill>
                <a:latin typeface="Helvetica Neue"/>
                <a:ea typeface="Helvetica Neue"/>
                <a:cs typeface="Helvetica Neue"/>
              </a:rPr>
              <a:t>50 kg</a:t>
            </a:r>
          </a:p>
        </p:txBody>
      </p:sp>
      <p:sp>
        <p:nvSpPr>
          <p:cNvPr id="12" name="">
            <a:extLst xmlns:a="http://schemas.openxmlformats.org/drawingml/2006/main">
              <a:ext uri="{FF2B5EF4-FFF2-40B4-BE49-F238E27FC236}">
                <a16:creationId xmlns:a16="http://schemas.microsoft.com/office/drawing/2014/main" id="{CDD787E1-0070-46E4-9DD1-4D9043B26BA2}"/>
              </a:ext>
            </a:extLst>
          </p:cNvPr>
          <p:cNvSpPr>
            <a:spLocks xmlns:a="http://schemas.openxmlformats.org/drawingml/2006/main" noGrp="1"/>
          </p:cNvSpPr>
          <p:nvPr/>
        </p:nvSpPr>
        <p:spPr>
          <a:xfrm xmlns:a="http://schemas.openxmlformats.org/drawingml/2006/main">
            <a:off x="6591300" y="5410200"/>
            <a:ext cx="4972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970"/>
                </a:solidFill>
                <a:latin typeface="Helvetica Neue"/>
                <a:ea typeface="Helvetica Neue"/>
                <a:cs typeface="Helvetica Neue"/>
              </a:defRPr>
            </a:pPr>
            <a:r>
              <a:rPr sz="1875" b="0">
                <a:solidFill>
                  <a:srgbClr val="526970"/>
                </a:solidFill>
                <a:latin typeface="Helvetica Neue"/>
                <a:ea typeface="Helvetica Neue"/>
                <a:cs typeface="Helvetica Neue"/>
              </a:rPr>
              <a:t>Lot A ingredient remaining</a:t>
            </a:r>
          </a:p>
        </p:txBody>
      </p:sp>
    </p:spTree>
    <p:extLst>
      <p:ext uri="{BB962C8B-B14F-4D97-AF65-F5344CB8AC3E}">
        <p14:creationId xmlns:p14="http://schemas.microsoft.com/office/powerpoint/2010/main" val="18810115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2E5973C-3688-499D-9368-F1B32918364C}"/>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2D36"/>
                </a:solidFill>
                <a:latin typeface="Helvetica Neue"/>
                <a:ea typeface="Helvetica Neue"/>
                <a:cs typeface="Helvetica Neue"/>
              </a:defRPr>
            </a:pPr>
            <a:r>
              <a:rPr sz="3450" b="1">
                <a:solidFill>
                  <a:srgbClr val="122D36"/>
                </a:solidFill>
                <a:latin typeface="Helvetica Neue"/>
                <a:ea typeface="Helvetica Neue"/>
                <a:cs typeface="Helvetica Neue"/>
              </a:rPr>
              <a:t>The model drafts. The reviewer decides.</a:t>
            </a:r>
          </a:p>
        </p:txBody>
      </p:sp>
      <p:sp>
        <p:nvSpPr>
          <p:cNvPr id="2" name="">
            <a:extLst xmlns:a="http://schemas.openxmlformats.org/drawingml/2006/main">
              <a:ext uri="{FF2B5EF4-FFF2-40B4-BE49-F238E27FC236}">
                <a16:creationId xmlns:a16="http://schemas.microsoft.com/office/drawing/2014/main" id="{D2901C48-3CCF-4888-A06F-7852BE104980}"/>
              </a:ext>
            </a:extLst>
          </p:cNvPr>
          <p:cNvSpPr>
            <a:spLocks xmlns:a="http://schemas.openxmlformats.org/drawingml/2006/main" noGrp="1"/>
          </p:cNvSpPr>
          <p:nvPr/>
        </p:nvSpPr>
        <p:spPr>
          <a:xfrm xmlns:a="http://schemas.openxmlformats.org/drawingml/2006/main">
            <a:off x="609600" y="637222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970"/>
                </a:solidFill>
                <a:latin typeface="Helvetica Neue"/>
                <a:ea typeface="Helvetica Neue"/>
                <a:cs typeface="Helvetica Neue"/>
              </a:defRPr>
            </a:pPr>
            <a:r>
              <a:rPr sz="1200" b="0">
                <a:solidFill>
                  <a:srgbClr val="526970"/>
                </a:solidFill>
                <a:latin typeface="Helvetica Neue"/>
                <a:ea typeface="Helvetica Neue"/>
                <a:cs typeface="Helvetica Neue"/>
              </a:rPr>
              <a:t>RecallRoom   /   4</a:t>
            </a:r>
          </a:p>
        </p:txBody>
      </p:sp>
      <p:sp>
        <p:nvSpPr>
          <p:cNvPr id="3" name="">
            <a:extLst xmlns:a="http://schemas.openxmlformats.org/drawingml/2006/main">
              <a:ext uri="{FF2B5EF4-FFF2-40B4-BE49-F238E27FC236}">
                <a16:creationId xmlns:a16="http://schemas.microsoft.com/office/drawing/2014/main" id="{58143E63-B5CF-4F3A-AF9D-490D4509F1A2}"/>
              </a:ext>
            </a:extLst>
          </p:cNvPr>
          <p:cNvSpPr>
            <a:spLocks xmlns:a="http://schemas.openxmlformats.org/drawingml/2006/main" noGrp="1"/>
          </p:cNvSpPr>
          <p:nvPr/>
        </p:nvSpPr>
        <p:spPr>
          <a:xfrm xmlns:a="http://schemas.openxmlformats.org/drawingml/2006/main">
            <a:off x="609600" y="1733550"/>
            <a:ext cx="2286000" cy="704850"/>
          </a:xfrm>
          <a:prstGeom xmlns:a="http://schemas.openxmlformats.org/drawingml/2006/main" prst="rect">
            <a:avLst/>
          </a:prstGeom>
          <a:solidFill xmlns:a="http://schemas.openxmlformats.org/drawingml/2006/main">
            <a:srgbClr val="F4F7F3"/>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22D36"/>
                </a:solidFill>
                <a:latin typeface="Helvetica Neue"/>
                <a:ea typeface="Helvetica Neue"/>
                <a:cs typeface="Helvetica Neue"/>
              </a:defRPr>
            </a:pPr>
            <a:r>
              <a:rPr sz="1875" b="1">
                <a:solidFill>
                  <a:srgbClr val="122D36"/>
                </a:solidFill>
                <a:latin typeface="Helvetica Neue"/>
                <a:ea typeface="Helvetica Neue"/>
                <a:cs typeface="Helvetica Neue"/>
              </a:rPr>
              <a:t>Source records</a:t>
            </a:r>
          </a:p>
        </p:txBody>
      </p:sp>
      <p:sp>
        <p:nvSpPr>
          <p:cNvPr id="4" name="">
            <a:extLst xmlns:a="http://schemas.openxmlformats.org/drawingml/2006/main">
              <a:ext uri="{FF2B5EF4-FFF2-40B4-BE49-F238E27FC236}">
                <a16:creationId xmlns:a16="http://schemas.microsoft.com/office/drawing/2014/main" id="{3F3B0B05-92BE-4B03-97D0-876305135DCF}"/>
              </a:ext>
            </a:extLst>
          </p:cNvPr>
          <p:cNvSpPr>
            <a:spLocks xmlns:a="http://schemas.openxmlformats.org/drawingml/2006/main" noGrp="1"/>
          </p:cNvSpPr>
          <p:nvPr/>
        </p:nvSpPr>
        <p:spPr>
          <a:xfrm xmlns:a="http://schemas.openxmlformats.org/drawingml/2006/main">
            <a:off x="3486150" y="1733550"/>
            <a:ext cx="2286000" cy="704850"/>
          </a:xfrm>
          <a:prstGeom xmlns:a="http://schemas.openxmlformats.org/drawingml/2006/main" prst="rect">
            <a:avLst/>
          </a:prstGeom>
          <a:solidFill xmlns:a="http://schemas.openxmlformats.org/drawingml/2006/main">
            <a:srgbClr val="136956"/>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Nemotron draft</a:t>
            </a:r>
          </a:p>
        </p:txBody>
      </p:sp>
      <p:sp>
        <p:nvSpPr>
          <p:cNvPr id="5" name="">
            <a:extLst xmlns:a="http://schemas.openxmlformats.org/drawingml/2006/main">
              <a:ext uri="{FF2B5EF4-FFF2-40B4-BE49-F238E27FC236}">
                <a16:creationId xmlns:a16="http://schemas.microsoft.com/office/drawing/2014/main" id="{BF924540-B415-4338-9E40-664FB5A8CABB}"/>
              </a:ext>
            </a:extLst>
          </p:cNvPr>
          <p:cNvSpPr>
            <a:spLocks xmlns:a="http://schemas.openxmlformats.org/drawingml/2006/main" noGrp="1"/>
          </p:cNvSpPr>
          <p:nvPr/>
        </p:nvSpPr>
        <p:spPr>
          <a:xfrm xmlns:a="http://schemas.openxmlformats.org/drawingml/2006/main">
            <a:off x="6362700" y="1733550"/>
            <a:ext cx="2286000" cy="704850"/>
          </a:xfrm>
          <a:prstGeom xmlns:a="http://schemas.openxmlformats.org/drawingml/2006/main" prst="rect">
            <a:avLst/>
          </a:prstGeom>
          <a:solidFill xmlns:a="http://schemas.openxmlformats.org/drawingml/2006/main">
            <a:srgbClr val="F4F7F3"/>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22D36"/>
                </a:solidFill>
                <a:latin typeface="Helvetica Neue"/>
                <a:ea typeface="Helvetica Neue"/>
                <a:cs typeface="Helvetica Neue"/>
              </a:defRPr>
            </a:pPr>
            <a:r>
              <a:rPr sz="1875" b="1">
                <a:solidFill>
                  <a:srgbClr val="122D36"/>
                </a:solidFill>
                <a:latin typeface="Helvetica Neue"/>
                <a:ea typeface="Helvetica Neue"/>
                <a:cs typeface="Helvetica Neue"/>
              </a:rPr>
              <a:t>Application checks</a:t>
            </a:r>
          </a:p>
        </p:txBody>
      </p:sp>
      <p:sp>
        <p:nvSpPr>
          <p:cNvPr id="6" name="">
            <a:extLst xmlns:a="http://schemas.openxmlformats.org/drawingml/2006/main">
              <a:ext uri="{FF2B5EF4-FFF2-40B4-BE49-F238E27FC236}">
                <a16:creationId xmlns:a16="http://schemas.microsoft.com/office/drawing/2014/main" id="{89AC28E5-94A9-461D-A07E-C359D10FC4F3}"/>
              </a:ext>
            </a:extLst>
          </p:cNvPr>
          <p:cNvSpPr>
            <a:spLocks xmlns:a="http://schemas.openxmlformats.org/drawingml/2006/main" noGrp="1"/>
          </p:cNvSpPr>
          <p:nvPr/>
        </p:nvSpPr>
        <p:spPr>
          <a:xfrm xmlns:a="http://schemas.openxmlformats.org/drawingml/2006/main">
            <a:off x="9239250" y="1733550"/>
            <a:ext cx="2286000" cy="704850"/>
          </a:xfrm>
          <a:prstGeom xmlns:a="http://schemas.openxmlformats.org/drawingml/2006/main" prst="rect">
            <a:avLst/>
          </a:prstGeom>
          <a:solidFill xmlns:a="http://schemas.openxmlformats.org/drawingml/2006/main">
            <a:srgbClr val="122D36"/>
          </a:solidFill>
          <a:ln xmlns:a="http://schemas.openxmlformats.org/drawingml/2006/main" w="9525">
            <a:solidFill>
              <a:srgbClr val="D5DFDA"/>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Human approval</a:t>
            </a:r>
          </a:p>
        </p:txBody>
      </p:sp>
      <p:cxnSp>
        <p:nvCxnSpPr>
          <p:cNvPr id="24" name=""/>
          <p:cNvCxnSpPr>
            <a:stCxn xmlns:a="http://schemas.openxmlformats.org/drawingml/2006/main" id="3" idx="3"/>
            <a:endCxn xmlns:a="http://schemas.openxmlformats.org/drawingml/2006/main" id="4" idx="1"/>
          </p:cNvCxnSpPr>
          <p:nvPr/>
        </p:nvCxnSpPr>
        <p:spPr>
          <a:xfrm xmlns:a="http://schemas.openxmlformats.org/drawingml/2006/main">
            <a:off x="2895600" y="2085975"/>
            <a:ext cx="590550" cy="0"/>
          </a:xfrm>
          <a:prstGeom xmlns:a="http://schemas.openxmlformats.org/drawingml/2006/main" prst="straightConnector1">
            <a:avLst/>
          </a:prstGeom>
          <a:ln xmlns:a="http://schemas.openxmlformats.org/drawingml/2006/main" w="19050">
            <a:solidFill>
              <a:srgbClr val="136956"/>
            </a:solidFill>
            <a:prstDash val="solid"/>
            <a:tailEnd type="arrow" w="med" len="med"/>
          </a:ln>
        </p:spPr>
      </p:cxn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5772150" y="2085975"/>
            <a:ext cx="590550" cy="0"/>
          </a:xfrm>
          <a:prstGeom xmlns:a="http://schemas.openxmlformats.org/drawingml/2006/main" prst="straightConnector1">
            <a:avLst/>
          </a:prstGeom>
          <a:ln xmlns:a="http://schemas.openxmlformats.org/drawingml/2006/main" w="19050">
            <a:solidFill>
              <a:srgbClr val="136956"/>
            </a:solidFill>
            <a:prstDash val="solid"/>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8648700" y="2085975"/>
            <a:ext cx="590550" cy="0"/>
          </a:xfrm>
          <a:prstGeom xmlns:a="http://schemas.openxmlformats.org/drawingml/2006/main" prst="straightConnector1">
            <a:avLst/>
          </a:prstGeom>
          <a:ln xmlns:a="http://schemas.openxmlformats.org/drawingml/2006/main" w="19050">
            <a:solidFill>
              <a:srgbClr val="136956"/>
            </a:solidFill>
            <a:prstDash val="solid"/>
            <a:tailEnd type="arrow" w="med" len="med"/>
          </a:ln>
        </p:spPr>
      </p:cxnSp>
      <p:sp>
        <p:nvSpPr>
          <p:cNvPr id="10" name="">
            <a:extLst xmlns:a="http://schemas.openxmlformats.org/drawingml/2006/main">
              <a:ext uri="{FF2B5EF4-FFF2-40B4-BE49-F238E27FC236}">
                <a16:creationId xmlns:a16="http://schemas.microsoft.com/office/drawing/2014/main" id="{73295C0E-993F-4E57-B934-A2B2248C4CC4}"/>
              </a:ext>
            </a:extLst>
          </p:cNvPr>
          <p:cNvSpPr>
            <a:spLocks xmlns:a="http://schemas.openxmlformats.org/drawingml/2006/main" noGrp="1"/>
          </p:cNvSpPr>
          <p:nvPr/>
        </p:nvSpPr>
        <p:spPr>
          <a:xfrm xmlns:a="http://schemas.openxmlformats.org/drawingml/2006/main">
            <a:off x="619125" y="2743200"/>
            <a:ext cx="23336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Firebase sign-in</a:t>
            </a:r>
          </a:p>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Private GCS originals</a:t>
            </a:r>
          </a:p>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Text, CSV, JSON, PDF*</a:t>
            </a:r>
          </a:p>
        </p:txBody>
      </p:sp>
      <p:sp>
        <p:nvSpPr>
          <p:cNvPr id="11" name="">
            <a:extLst xmlns:a="http://schemas.openxmlformats.org/drawingml/2006/main">
              <a:ext uri="{FF2B5EF4-FFF2-40B4-BE49-F238E27FC236}">
                <a16:creationId xmlns:a16="http://schemas.microsoft.com/office/drawing/2014/main" id="{08C6F166-3B9F-42CA-B4CB-DC874E09EA00}"/>
              </a:ext>
            </a:extLst>
          </p:cNvPr>
          <p:cNvSpPr>
            <a:spLocks xmlns:a="http://schemas.openxmlformats.org/drawingml/2006/main" noGrp="1"/>
          </p:cNvSpPr>
          <p:nvPr/>
        </p:nvSpPr>
        <p:spPr>
          <a:xfrm xmlns:a="http://schemas.openxmlformats.org/drawingml/2006/main">
            <a:off x="3486150" y="2743200"/>
            <a:ext cx="23336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Nebius Token Factory</a:t>
            </a:r>
          </a:p>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Structured extraction</a:t>
            </a:r>
          </a:p>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Source-linked proposals</a:t>
            </a:r>
          </a:p>
        </p:txBody>
      </p:sp>
      <p:sp>
        <p:nvSpPr>
          <p:cNvPr id="12" name="">
            <a:extLst xmlns:a="http://schemas.openxmlformats.org/drawingml/2006/main">
              <a:ext uri="{FF2B5EF4-FFF2-40B4-BE49-F238E27FC236}">
                <a16:creationId xmlns:a16="http://schemas.microsoft.com/office/drawing/2014/main" id="{110D0641-5261-4118-9D3D-5B9D5A5734A6}"/>
              </a:ext>
            </a:extLst>
          </p:cNvPr>
          <p:cNvSpPr>
            <a:spLocks xmlns:a="http://schemas.openxmlformats.org/drawingml/2006/main" noGrp="1"/>
          </p:cNvSpPr>
          <p:nvPr/>
        </p:nvSpPr>
        <p:spPr>
          <a:xfrm xmlns:a="http://schemas.openxmlformats.org/drawingml/2006/main">
            <a:off x="6362700" y="2743200"/>
            <a:ext cx="23336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Schema validation</a:t>
            </a:r>
          </a:p>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Lot graph and ranges</a:t>
            </a:r>
          </a:p>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Deterministic quantities</a:t>
            </a:r>
          </a:p>
        </p:txBody>
      </p:sp>
      <p:sp>
        <p:nvSpPr>
          <p:cNvPr id="13" name="">
            <a:extLst xmlns:a="http://schemas.openxmlformats.org/drawingml/2006/main">
              <a:ext uri="{FF2B5EF4-FFF2-40B4-BE49-F238E27FC236}">
                <a16:creationId xmlns:a16="http://schemas.microsoft.com/office/drawing/2014/main" id="{8B42B45B-2405-4B7D-B0C6-CC5006E4A7DD}"/>
              </a:ext>
            </a:extLst>
          </p:cNvPr>
          <p:cNvSpPr>
            <a:spLocks xmlns:a="http://schemas.openxmlformats.org/drawingml/2006/main" noGrp="1"/>
          </p:cNvSpPr>
          <p:nvPr/>
        </p:nvSpPr>
        <p:spPr>
          <a:xfrm xmlns:a="http://schemas.openxmlformats.org/drawingml/2006/main">
            <a:off x="9239250" y="2743200"/>
            <a:ext cx="23336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Evidence decisions</a:t>
            </a:r>
          </a:p>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Cases in Firestore</a:t>
            </a:r>
          </a:p>
          <a:p xmlns:a="http://schemas.openxmlformats.org/drawingml/2006/main">
            <a:pPr>
              <a:defRPr sz="1725" b="0">
                <a:solidFill>
                  <a:srgbClr val="122D36"/>
                </a:solidFill>
                <a:latin typeface="Helvetica Neue"/>
                <a:ea typeface="Helvetica Neue"/>
                <a:cs typeface="Helvetica Neue"/>
              </a:defRPr>
            </a:pPr>
            <a:r>
              <a:rPr sz="1725" b="0">
                <a:solidFill>
                  <a:srgbClr val="122D36"/>
                </a:solidFill>
                <a:latin typeface="Helvetica Neue"/>
                <a:ea typeface="Helvetica Neue"/>
                <a:cs typeface="Helvetica Neue"/>
              </a:rPr>
              <a:t>Portable response packet</a:t>
            </a:r>
          </a:p>
        </p:txBody>
      </p:sp>
      <p:sp>
        <p:nvSpPr>
          <p:cNvPr id="14" name="">
            <a:extLst xmlns:a="http://schemas.openxmlformats.org/drawingml/2006/main">
              <a:ext uri="{FF2B5EF4-FFF2-40B4-BE49-F238E27FC236}">
                <a16:creationId xmlns:a16="http://schemas.microsoft.com/office/drawing/2014/main" id="{1FD9F0EF-EB5C-4DBC-92F5-40FBCEB5C8E9}"/>
              </a:ext>
            </a:extLst>
          </p:cNvPr>
          <p:cNvSpPr>
            <a:spLocks xmlns:a="http://schemas.openxmlformats.org/drawingml/2006/main" noGrp="1"/>
          </p:cNvSpPr>
          <p:nvPr/>
        </p:nvSpPr>
        <p:spPr>
          <a:xfrm xmlns:a="http://schemas.openxmlformats.org/drawingml/2006/main">
            <a:off x="628650" y="41052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970"/>
                </a:solidFill>
                <a:latin typeface="Helvetica Neue"/>
                <a:ea typeface="Helvetica Neue"/>
                <a:cs typeface="Helvetica Neue"/>
              </a:defRPr>
            </a:pPr>
            <a:r>
              <a:rPr sz="1725" b="0">
                <a:solidFill>
                  <a:srgbClr val="526970"/>
                </a:solidFill>
                <a:latin typeface="Helvetica Neue"/>
                <a:ea typeface="Helvetica Neue"/>
                <a:cs typeface="Helvetica Neue"/>
              </a:rPr>
              <a:t>Firebase hosts the app. Cloud Run and Cloud Tasks handle authenticated extraction.</a:t>
            </a:r>
          </a:p>
        </p:txBody>
      </p:sp>
      <p:sp>
        <p:nvSpPr>
          <p:cNvPr id="15" name="">
            <a:extLst xmlns:a="http://schemas.openxmlformats.org/drawingml/2006/main">
              <a:ext uri="{FF2B5EF4-FFF2-40B4-BE49-F238E27FC236}">
                <a16:creationId xmlns:a16="http://schemas.microsoft.com/office/drawing/2014/main" id="{93158336-EE73-461F-8031-A27624A0F340}"/>
              </a:ext>
            </a:extLst>
          </p:cNvPr>
          <p:cNvSpPr>
            <a:spLocks xmlns:a="http://schemas.openxmlformats.org/drawingml/2006/main" noGrp="1"/>
          </p:cNvSpPr>
          <p:nvPr/>
        </p:nvSpPr>
        <p:spPr>
          <a:xfrm xmlns:a="http://schemas.openxmlformats.org/drawingml/2006/main">
            <a:off x="628650" y="46577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6956"/>
                </a:solidFill>
                <a:latin typeface="Helvetica Neue"/>
                <a:ea typeface="Helvetica Neue"/>
                <a:cs typeface="Helvetica Neue"/>
              </a:defRPr>
            </a:pPr>
            <a:r>
              <a:rPr sz="2175" b="1">
                <a:solidFill>
                  <a:srgbClr val="136956"/>
                </a:solidFill>
                <a:latin typeface="Helvetica Neue"/>
                <a:ea typeface="Helvetica Neue"/>
                <a:cs typeface="Helvetica Neue"/>
              </a:rPr>
              <a:t>HTML, CSV and JSON exports include evidence and unsent customer drafts.</a:t>
            </a:r>
          </a:p>
        </p:txBody>
      </p:sp>
      <p:sp>
        <p:nvSpPr>
          <p:cNvPr id="16" name="">
            <a:extLst xmlns:a="http://schemas.openxmlformats.org/drawingml/2006/main">
              <a:ext uri="{FF2B5EF4-FFF2-40B4-BE49-F238E27FC236}">
                <a16:creationId xmlns:a16="http://schemas.microsoft.com/office/drawing/2014/main" id="{6D43FD18-816A-4397-A534-11058B4EA341}"/>
              </a:ext>
            </a:extLst>
          </p:cNvPr>
          <p:cNvSpPr>
            <a:spLocks xmlns:a="http://schemas.openxmlformats.org/drawingml/2006/main" noGrp="1"/>
          </p:cNvSpPr>
          <p:nvPr/>
        </p:nvSpPr>
        <p:spPr>
          <a:xfrm xmlns:a="http://schemas.openxmlformats.org/drawingml/2006/main">
            <a:off x="628650" y="54006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B6409"/>
                </a:solidFill>
                <a:latin typeface="Helvetica Neue"/>
                <a:ea typeface="Helvetica Neue"/>
                <a:cs typeface="Helvetica Neue"/>
              </a:defRPr>
            </a:pPr>
            <a:r>
              <a:rPr sz="1725" b="1">
                <a:solidFill>
                  <a:srgbClr val="9B6409"/>
                </a:solidFill>
                <a:latin typeface="Helvetica Neue"/>
                <a:ea typeface="Helvetica Neue"/>
                <a:cs typeface="Helvetica Neue"/>
              </a:rPr>
              <a:t>Live Nebius execution awaits a credential. No measured model latency, accuracy or cost yet.</a:t>
            </a:r>
          </a:p>
        </p:txBody>
      </p:sp>
      <p:sp>
        <p:nvSpPr>
          <p:cNvPr id="17" name="">
            <a:extLst xmlns:a="http://schemas.openxmlformats.org/drawingml/2006/main">
              <a:ext uri="{FF2B5EF4-FFF2-40B4-BE49-F238E27FC236}">
                <a16:creationId xmlns:a16="http://schemas.microsoft.com/office/drawing/2014/main" id="{D930D73C-06E5-4E94-98A8-526C622E8CBC}"/>
              </a:ext>
            </a:extLst>
          </p:cNvPr>
          <p:cNvSpPr>
            <a:spLocks xmlns:a="http://schemas.openxmlformats.org/drawingml/2006/main" noGrp="1"/>
          </p:cNvSpPr>
          <p:nvPr/>
        </p:nvSpPr>
        <p:spPr>
          <a:xfrm xmlns:a="http://schemas.openxmlformats.org/drawingml/2006/main">
            <a:off x="628650" y="59912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0"/>
                </a:solidFill>
                <a:latin typeface="Helvetica Neue"/>
                <a:ea typeface="Helvetica Neue"/>
                <a:cs typeface="Helvetica Neue"/>
              </a:defRPr>
            </a:pPr>
            <a:r>
              <a:rPr sz="1275" b="0">
                <a:solidFill>
                  <a:srgbClr val="526970"/>
                </a:solidFill>
                <a:latin typeface="Helvetica Neue"/>
                <a:ea typeface="Helvetica Neue"/>
                <a:cs typeface="Helvetica Neue"/>
              </a:rPr>
              <a:t>*Text PDFs require a person to verify the extracted text. Scanned-image OCR is outside this MVP.</a:t>
            </a:r>
          </a:p>
        </p:txBody>
      </p:sp>
    </p:spTree>
    <p:extLst>
      <p:ext uri="{BB962C8B-B14F-4D97-AF65-F5344CB8AC3E}">
        <p14:creationId xmlns:p14="http://schemas.microsoft.com/office/powerpoint/2010/main" val="9733053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051CEF-3C8B-4217-AA5D-7B366535B546}"/>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2D36"/>
                </a:solidFill>
                <a:latin typeface="Helvetica Neue"/>
                <a:ea typeface="Helvetica Neue"/>
                <a:cs typeface="Helvetica Neue"/>
              </a:defRPr>
            </a:pPr>
            <a:r>
              <a:rPr sz="3450" b="1">
                <a:solidFill>
                  <a:srgbClr val="122D36"/>
                </a:solidFill>
                <a:latin typeface="Helvetica Neue"/>
                <a:ea typeface="Helvetica Neue"/>
                <a:cs typeface="Helvetica Neue"/>
              </a:rPr>
              <a:t>A focused workflow for a specific buyer</a:t>
            </a:r>
          </a:p>
        </p:txBody>
      </p:sp>
      <p:sp>
        <p:nvSpPr>
          <p:cNvPr id="2" name="">
            <a:extLst xmlns:a="http://schemas.openxmlformats.org/drawingml/2006/main">
              <a:ext uri="{FF2B5EF4-FFF2-40B4-BE49-F238E27FC236}">
                <a16:creationId xmlns:a16="http://schemas.microsoft.com/office/drawing/2014/main" id="{C414DD02-CCBF-4220-A569-E0298726B6AA}"/>
              </a:ext>
            </a:extLst>
          </p:cNvPr>
          <p:cNvSpPr>
            <a:spLocks xmlns:a="http://schemas.openxmlformats.org/drawingml/2006/main" noGrp="1"/>
          </p:cNvSpPr>
          <p:nvPr/>
        </p:nvSpPr>
        <p:spPr>
          <a:xfrm xmlns:a="http://schemas.openxmlformats.org/drawingml/2006/main">
            <a:off x="609600" y="637222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970"/>
                </a:solidFill>
                <a:latin typeface="Helvetica Neue"/>
                <a:ea typeface="Helvetica Neue"/>
                <a:cs typeface="Helvetica Neue"/>
              </a:defRPr>
            </a:pPr>
            <a:r>
              <a:rPr sz="1200" b="0">
                <a:solidFill>
                  <a:srgbClr val="526970"/>
                </a:solidFill>
                <a:latin typeface="Helvetica Neue"/>
                <a:ea typeface="Helvetica Neue"/>
                <a:cs typeface="Helvetica Neue"/>
              </a:rPr>
              <a:t>RecallRoom   /   5</a:t>
            </a:r>
          </a:p>
        </p:txBody>
      </p:sp>
      <p:sp>
        <p:nvSpPr>
          <p:cNvPr id="3" name="">
            <a:extLst xmlns:a="http://schemas.openxmlformats.org/drawingml/2006/main">
              <a:ext uri="{FF2B5EF4-FFF2-40B4-BE49-F238E27FC236}">
                <a16:creationId xmlns:a16="http://schemas.microsoft.com/office/drawing/2014/main" id="{3002D8FA-EFBF-4EFE-A50F-E0606084CCE5}"/>
              </a:ext>
            </a:extLst>
          </p:cNvPr>
          <p:cNvSpPr>
            <a:spLocks xmlns:a="http://schemas.openxmlformats.org/drawingml/2006/main" noGrp="1"/>
          </p:cNvSpPr>
          <p:nvPr/>
        </p:nvSpPr>
        <p:spPr>
          <a:xfrm xmlns:a="http://schemas.openxmlformats.org/drawingml/2006/main">
            <a:off x="619125" y="1428750"/>
            <a:ext cx="6334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D36"/>
                </a:solidFill>
                <a:latin typeface="Helvetica Neue"/>
                <a:ea typeface="Helvetica Neue"/>
                <a:cs typeface="Helvetica Neue"/>
              </a:defRPr>
            </a:pPr>
            <a:r>
              <a:rPr sz="2925" b="1">
                <a:solidFill>
                  <a:srgbClr val="122D36"/>
                </a:solidFill>
                <a:latin typeface="Helvetica Neue"/>
                <a:ea typeface="Helvetica Neue"/>
                <a:cs typeface="Helvetica Neue"/>
              </a:rPr>
              <a:t>Small food manufacturers</a:t>
            </a:r>
          </a:p>
          <a:p xmlns:a="http://schemas.openxmlformats.org/drawingml/2006/main">
            <a:pPr>
              <a:defRPr sz="2925" b="1">
                <a:solidFill>
                  <a:srgbClr val="122D36"/>
                </a:solidFill>
                <a:latin typeface="Helvetica Neue"/>
                <a:ea typeface="Helvetica Neue"/>
                <a:cs typeface="Helvetica Neue"/>
              </a:defRPr>
            </a:pPr>
            <a:r>
              <a:rPr sz="2925" b="1">
                <a:solidFill>
                  <a:srgbClr val="122D36"/>
                </a:solidFill>
                <a:latin typeface="Helvetica Neue"/>
                <a:ea typeface="Helvetica Neue"/>
                <a:cs typeface="Helvetica Neue"/>
              </a:rPr>
              <a:t>and co-packers</a:t>
            </a:r>
          </a:p>
        </p:txBody>
      </p:sp>
      <p:sp>
        <p:nvSpPr>
          <p:cNvPr id="4" name="">
            <a:extLst xmlns:a="http://schemas.openxmlformats.org/drawingml/2006/main">
              <a:ext uri="{FF2B5EF4-FFF2-40B4-BE49-F238E27FC236}">
                <a16:creationId xmlns:a16="http://schemas.microsoft.com/office/drawing/2014/main" id="{D575A1AA-C3F6-489F-A0CB-9A4C75EF6214}"/>
              </a:ext>
            </a:extLst>
          </p:cNvPr>
          <p:cNvSpPr>
            <a:spLocks xmlns:a="http://schemas.openxmlformats.org/drawingml/2006/main" noGrp="1"/>
          </p:cNvSpPr>
          <p:nvPr/>
        </p:nvSpPr>
        <p:spPr>
          <a:xfrm xmlns:a="http://schemas.openxmlformats.org/drawingml/2006/main">
            <a:off x="638175" y="2647950"/>
            <a:ext cx="6400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2D36"/>
                </a:solidFill>
                <a:latin typeface="Helvetica Neue"/>
                <a:ea typeface="Helvetica Neue"/>
                <a:cs typeface="Helvetica Neue"/>
              </a:defRPr>
            </a:pPr>
            <a:r>
              <a:rPr sz="2175" b="0">
                <a:solidFill>
                  <a:srgbClr val="122D36"/>
                </a:solidFill>
                <a:latin typeface="Helvetica Neue"/>
                <a:ea typeface="Helvetica Neue"/>
                <a:cs typeface="Helvetica Neue"/>
              </a:rPr>
              <a:t>Quality managers run a traceability drill using</a:t>
            </a:r>
          </a:p>
          <a:p xmlns:a="http://schemas.openxmlformats.org/drawingml/2006/main">
            <a:pPr>
              <a:defRPr sz="2175" b="0">
                <a:solidFill>
                  <a:srgbClr val="122D36"/>
                </a:solidFill>
                <a:latin typeface="Helvetica Neue"/>
                <a:ea typeface="Helvetica Neue"/>
                <a:cs typeface="Helvetica Neue"/>
              </a:defRPr>
            </a:pPr>
            <a:r>
              <a:rPr sz="2175" b="0">
                <a:solidFill>
                  <a:srgbClr val="122D36"/>
                </a:solidFill>
                <a:latin typeface="Helvetica Neue"/>
                <a:ea typeface="Helvetica Neue"/>
                <a:cs typeface="Helvetica Neue"/>
              </a:rPr>
              <a:t>records they already keep. Consultants could</a:t>
            </a:r>
          </a:p>
          <a:p xmlns:a="http://schemas.openxmlformats.org/drawingml/2006/main">
            <a:pPr>
              <a:defRPr sz="2175" b="0">
                <a:solidFill>
                  <a:srgbClr val="122D36"/>
                </a:solidFill>
                <a:latin typeface="Helvetica Neue"/>
                <a:ea typeface="Helvetica Neue"/>
                <a:cs typeface="Helvetica Neue"/>
              </a:defRPr>
            </a:pPr>
            <a:r>
              <a:rPr sz="2175" b="0">
                <a:solidFill>
                  <a:srgbClr val="122D36"/>
                </a:solidFill>
                <a:latin typeface="Helvetica Neue"/>
                <a:ea typeface="Helvetica Neue"/>
                <a:cs typeface="Helvetica Neue"/>
              </a:rPr>
              <a:t>bring the workflow to several client sites.</a:t>
            </a:r>
          </a:p>
        </p:txBody>
      </p:sp>
      <p:sp>
        <p:nvSpPr>
          <p:cNvPr id="5" name="">
            <a:extLst xmlns:a="http://schemas.openxmlformats.org/drawingml/2006/main">
              <a:ext uri="{FF2B5EF4-FFF2-40B4-BE49-F238E27FC236}">
                <a16:creationId xmlns:a16="http://schemas.microsoft.com/office/drawing/2014/main" id="{99F58F3E-07CA-4768-88E9-6249A6EB9C34}"/>
              </a:ext>
            </a:extLst>
          </p:cNvPr>
          <p:cNvSpPr>
            <a:spLocks xmlns:a="http://schemas.openxmlformats.org/drawingml/2006/main" noGrp="1"/>
          </p:cNvSpPr>
          <p:nvPr/>
        </p:nvSpPr>
        <p:spPr>
          <a:xfrm xmlns:a="http://schemas.openxmlformats.org/drawingml/2006/main">
            <a:off x="8096250" y="1666875"/>
            <a:ext cx="333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136956"/>
                </a:solidFill>
                <a:latin typeface="Helvetica Neue"/>
                <a:ea typeface="Helvetica Neue"/>
                <a:cs typeface="Helvetica Neue"/>
              </a:defRPr>
            </a:pPr>
            <a:r>
              <a:rPr sz="5475" b="1">
                <a:solidFill>
                  <a:srgbClr val="136956"/>
                </a:solidFill>
                <a:latin typeface="Helvetica Neue"/>
                <a:ea typeface="Helvetica Neue"/>
                <a:cs typeface="Helvetica Neue"/>
              </a:rPr>
              <a:t>$99</a:t>
            </a:r>
          </a:p>
        </p:txBody>
      </p:sp>
      <p:sp>
        <p:nvSpPr>
          <p:cNvPr id="6" name="">
            <a:extLst xmlns:a="http://schemas.openxmlformats.org/drawingml/2006/main">
              <a:ext uri="{FF2B5EF4-FFF2-40B4-BE49-F238E27FC236}">
                <a16:creationId xmlns:a16="http://schemas.microsoft.com/office/drawing/2014/main" id="{D2017483-51E6-471B-A064-B435628821C7}"/>
              </a:ext>
            </a:extLst>
          </p:cNvPr>
          <p:cNvSpPr>
            <a:spLocks xmlns:a="http://schemas.openxmlformats.org/drawingml/2006/main" noGrp="1"/>
          </p:cNvSpPr>
          <p:nvPr/>
        </p:nvSpPr>
        <p:spPr>
          <a:xfrm xmlns:a="http://schemas.openxmlformats.org/drawingml/2006/main">
            <a:off x="8124825" y="271462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2D36"/>
                </a:solidFill>
                <a:latin typeface="Helvetica Neue"/>
                <a:ea typeface="Helvetica Neue"/>
                <a:cs typeface="Helvetica Neue"/>
              </a:defRPr>
            </a:pPr>
            <a:r>
              <a:rPr sz="2175" b="0">
                <a:solidFill>
                  <a:srgbClr val="122D36"/>
                </a:solidFill>
                <a:latin typeface="Helvetica Neue"/>
                <a:ea typeface="Helvetica Neue"/>
                <a:cs typeface="Helvetica Neue"/>
              </a:rPr>
              <a:t>per site / month</a:t>
            </a:r>
          </a:p>
        </p:txBody>
      </p:sp>
      <p:sp>
        <p:nvSpPr>
          <p:cNvPr id="7" name="">
            <a:extLst xmlns:a="http://schemas.openxmlformats.org/drawingml/2006/main">
              <a:ext uri="{FF2B5EF4-FFF2-40B4-BE49-F238E27FC236}">
                <a16:creationId xmlns:a16="http://schemas.microsoft.com/office/drawing/2014/main" id="{5D61692E-E0F2-4F75-8D0B-7B0994FDFAC7}"/>
              </a:ext>
            </a:extLst>
          </p:cNvPr>
          <p:cNvSpPr>
            <a:spLocks xmlns:a="http://schemas.openxmlformats.org/drawingml/2006/main" noGrp="1"/>
          </p:cNvSpPr>
          <p:nvPr/>
        </p:nvSpPr>
        <p:spPr>
          <a:xfrm xmlns:a="http://schemas.openxmlformats.org/drawingml/2006/main">
            <a:off x="8124825" y="3324225"/>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B6409"/>
                </a:solidFill>
                <a:latin typeface="Helvetica Neue"/>
                <a:ea typeface="Helvetica Neue"/>
                <a:cs typeface="Helvetica Neue"/>
              </a:defRPr>
            </a:pPr>
            <a:r>
              <a:rPr sz="1800" b="0">
                <a:solidFill>
                  <a:srgbClr val="9B6409"/>
                </a:solidFill>
                <a:latin typeface="Helvetica Neue"/>
                <a:ea typeface="Helvetica Neue"/>
                <a:cs typeface="Helvetica Neue"/>
              </a:rPr>
              <a:t>Pricing hypothesis</a:t>
            </a:r>
          </a:p>
          <a:p xmlns:a="http://schemas.openxmlformats.org/drawingml/2006/main">
            <a:pPr>
              <a:defRPr sz="1800" b="0">
                <a:solidFill>
                  <a:srgbClr val="9B6409"/>
                </a:solidFill>
                <a:latin typeface="Helvetica Neue"/>
                <a:ea typeface="Helvetica Neue"/>
                <a:cs typeface="Helvetica Neue"/>
              </a:defRPr>
            </a:pPr>
            <a:r>
              <a:rPr sz="1800" b="0">
                <a:solidFill>
                  <a:srgbClr val="9B6409"/>
                </a:solidFill>
                <a:latin typeface="Helvetica Neue"/>
                <a:ea typeface="Helvetica Neue"/>
                <a:cs typeface="Helvetica Neue"/>
              </a:rPr>
              <a:t>No paying customers yet</a:t>
            </a:r>
          </a:p>
        </p:txBody>
      </p:sp>
      <p:sp>
        <p:nvSpPr>
          <p:cNvPr id="8" name="">
            <a:extLst xmlns:a="http://schemas.openxmlformats.org/drawingml/2006/main">
              <a:ext uri="{FF2B5EF4-FFF2-40B4-BE49-F238E27FC236}">
                <a16:creationId xmlns:a16="http://schemas.microsoft.com/office/drawing/2014/main" id="{A7DE75E5-72C8-45CD-BA67-A020C99C114D}"/>
              </a:ext>
            </a:extLst>
          </p:cNvPr>
          <p:cNvSpPr>
            <a:spLocks xmlns:a="http://schemas.openxmlformats.org/drawingml/2006/main" noGrp="1"/>
          </p:cNvSpPr>
          <p:nvPr/>
        </p:nvSpPr>
        <p:spPr>
          <a:xfrm xmlns:a="http://schemas.openxmlformats.org/drawingml/2006/main">
            <a:off x="638175" y="441007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2D36"/>
                </a:solidFill>
                <a:latin typeface="Helvetica Neue"/>
                <a:ea typeface="Helvetica Neue"/>
                <a:cs typeface="Helvetica Neue"/>
              </a:defRPr>
            </a:pPr>
            <a:r>
              <a:rPr sz="2025" b="0">
                <a:solidFill>
                  <a:srgbClr val="122D36"/>
                </a:solidFill>
                <a:latin typeface="Helvetica Neue"/>
                <a:ea typeface="Helvetica Neue"/>
                <a:cs typeface="Helvetica Neue"/>
              </a:rPr>
              <a:t>FDA’s 2026 exercise with 15 voluntary firms found gaps in traceability information. The sample is not industry-wide evidence.</a:t>
            </a:r>
          </a:p>
        </p:txBody>
      </p:sp>
      <p:sp>
        <p:nvSpPr>
          <p:cNvPr id="9" name="">
            <a:extLst xmlns:a="http://schemas.openxmlformats.org/drawingml/2006/main">
              <a:ext uri="{FF2B5EF4-FFF2-40B4-BE49-F238E27FC236}">
                <a16:creationId xmlns:a16="http://schemas.microsoft.com/office/drawing/2014/main" id="{786BCED1-1C4C-4E28-90D3-C287891808D2}"/>
              </a:ext>
            </a:extLst>
          </p:cNvPr>
          <p:cNvSpPr>
            <a:spLocks xmlns:a="http://schemas.openxmlformats.org/drawingml/2006/main" noGrp="1"/>
          </p:cNvSpPr>
          <p:nvPr/>
        </p:nvSpPr>
        <p:spPr>
          <a:xfrm xmlns:a="http://schemas.openxmlformats.org/drawingml/2006/main">
            <a:off x="638175" y="5534025"/>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970"/>
                </a:solidFill>
                <a:latin typeface="Helvetica Neue"/>
                <a:ea typeface="Helvetica Neue"/>
                <a:cs typeface="Helvetica Neue"/>
              </a:defRPr>
            </a:pPr>
            <a:r>
              <a:rPr sz="1800" b="0">
                <a:solidFill>
                  <a:srgbClr val="526970"/>
                </a:solidFill>
                <a:latin typeface="Helvetica Neue"/>
                <a:ea typeface="Helvetica Neue"/>
                <a:cs typeface="Helvetica Neue"/>
              </a:rPr>
              <a:t>FoodDocs and Mar-Kov already offer traceability. RecallRoom’s proposed entry point is a narrow incident workspace over existing documents.</a:t>
            </a:r>
          </a:p>
        </p:txBody>
      </p:sp>
    </p:spTree>
    <p:extLst>
      <p:ext uri="{BB962C8B-B14F-4D97-AF65-F5344CB8AC3E}">
        <p14:creationId xmlns:p14="http://schemas.microsoft.com/office/powerpoint/2010/main" val="1827243853"/>
      </p:ext>
    </p:extLst>
  </p:cSld>
</p:sld>
</file>

<file path=ppt/slides/slide6.xml><?xml version="1.0" encoding="utf-8"?>
<p:sld xmlns:p="http://schemas.openxmlformats.org/presentationml/2006/main">
  <p:cSld>
    <p:bg>
      <p:bgPr>
        <a:solidFill xmlns:a="http://schemas.openxmlformats.org/drawingml/2006/main">
          <a:srgbClr val="122D3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6DAA47B-90D1-448D-B122-DFEEC5D4DE34}"/>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Application evidence and next validation</a:t>
            </a:r>
          </a:p>
        </p:txBody>
      </p:sp>
      <p:sp>
        <p:nvSpPr>
          <p:cNvPr id="2" name="">
            <a:extLst xmlns:a="http://schemas.openxmlformats.org/drawingml/2006/main">
              <a:ext uri="{FF2B5EF4-FFF2-40B4-BE49-F238E27FC236}">
                <a16:creationId xmlns:a16="http://schemas.microsoft.com/office/drawing/2014/main" id="{24AA1BEC-E585-4EC5-92AC-8AFC02171FEC}"/>
              </a:ext>
            </a:extLst>
          </p:cNvPr>
          <p:cNvSpPr>
            <a:spLocks xmlns:a="http://schemas.openxmlformats.org/drawingml/2006/main" noGrp="1"/>
          </p:cNvSpPr>
          <p:nvPr/>
        </p:nvSpPr>
        <p:spPr>
          <a:xfrm xmlns:a="http://schemas.openxmlformats.org/drawingml/2006/main">
            <a:off x="609600" y="637222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6E1CB"/>
                </a:solidFill>
                <a:latin typeface="Helvetica Neue"/>
                <a:ea typeface="Helvetica Neue"/>
                <a:cs typeface="Helvetica Neue"/>
              </a:defRPr>
            </a:pPr>
            <a:r>
              <a:rPr sz="1200" b="0">
                <a:solidFill>
                  <a:srgbClr val="A6E1CB"/>
                </a:solidFill>
                <a:latin typeface="Helvetica Neue"/>
                <a:ea typeface="Helvetica Neue"/>
                <a:cs typeface="Helvetica Neue"/>
              </a:rPr>
              <a:t>RecallRoom   /   6</a:t>
            </a:r>
          </a:p>
        </p:txBody>
      </p:sp>
      <p:sp>
        <p:nvSpPr>
          <p:cNvPr id="3" name="">
            <a:extLst xmlns:a="http://schemas.openxmlformats.org/drawingml/2006/main">
              <a:ext uri="{FF2B5EF4-FFF2-40B4-BE49-F238E27FC236}">
                <a16:creationId xmlns:a16="http://schemas.microsoft.com/office/drawing/2014/main" id="{C9BE9750-FD1F-405A-820E-6F7F3C6B4908}"/>
              </a:ext>
            </a:extLst>
          </p:cNvPr>
          <p:cNvSpPr>
            <a:spLocks xmlns:a="http://schemas.openxmlformats.org/drawingml/2006/main" noGrp="1"/>
          </p:cNvSpPr>
          <p:nvPr/>
        </p:nvSpPr>
        <p:spPr>
          <a:xfrm xmlns:a="http://schemas.openxmlformats.org/drawingml/2006/main">
            <a:off x="619125" y="15811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6E1CB"/>
                </a:solidFill>
                <a:latin typeface="Helvetica Neue"/>
                <a:ea typeface="Helvetica Neue"/>
                <a:cs typeface="Helvetica Neue"/>
              </a:defRPr>
            </a:pPr>
            <a:r>
              <a:rPr sz="2325" b="1">
                <a:solidFill>
                  <a:srgbClr val="A6E1CB"/>
                </a:solidFill>
                <a:latin typeface="Helvetica Neue"/>
                <a:ea typeface="Helvetica Neue"/>
                <a:cs typeface="Helvetica Neue"/>
              </a:rPr>
              <a:t>Verified application checks</a:t>
            </a:r>
          </a:p>
        </p:txBody>
      </p:sp>
      <p:sp>
        <p:nvSpPr>
          <p:cNvPr id="4" name="">
            <a:extLst xmlns:a="http://schemas.openxmlformats.org/drawingml/2006/main">
              <a:ext uri="{FF2B5EF4-FFF2-40B4-BE49-F238E27FC236}">
                <a16:creationId xmlns:a16="http://schemas.microsoft.com/office/drawing/2014/main" id="{68FE42BB-3BE8-4693-B223-6F63D4018952}"/>
              </a:ext>
            </a:extLst>
          </p:cNvPr>
          <p:cNvSpPr>
            <a:spLocks xmlns:a="http://schemas.openxmlformats.org/drawingml/2006/main" noGrp="1"/>
          </p:cNvSpPr>
          <p:nvPr/>
        </p:nvSpPr>
        <p:spPr>
          <a:xfrm xmlns:a="http://schemas.openxmlformats.org/drawingml/2006/main">
            <a:off x="638175" y="2343150"/>
            <a:ext cx="4810125"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37 automated tests</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60 hosted API checks</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10 operator checks</a:t>
            </a:r>
          </a:p>
        </p:txBody>
      </p:sp>
      <p:sp>
        <p:nvSpPr>
          <p:cNvPr id="5" name="">
            <a:extLst xmlns:a="http://schemas.openxmlformats.org/drawingml/2006/main">
              <a:ext uri="{FF2B5EF4-FFF2-40B4-BE49-F238E27FC236}">
                <a16:creationId xmlns:a16="http://schemas.microsoft.com/office/drawing/2014/main" id="{F8509155-3F78-42DB-833C-EC2FAE9958AB}"/>
              </a:ext>
            </a:extLst>
          </p:cNvPr>
          <p:cNvSpPr>
            <a:spLocks xmlns:a="http://schemas.openxmlformats.org/drawingml/2006/main" noGrp="1"/>
          </p:cNvSpPr>
          <p:nvPr/>
        </p:nvSpPr>
        <p:spPr>
          <a:xfrm xmlns:a="http://schemas.openxmlformats.org/drawingml/2006/main">
            <a:off x="6581775" y="1581150"/>
            <a:ext cx="4991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6E1CB"/>
                </a:solidFill>
                <a:latin typeface="Helvetica Neue"/>
                <a:ea typeface="Helvetica Neue"/>
                <a:cs typeface="Helvetica Neue"/>
              </a:defRPr>
            </a:pPr>
            <a:r>
              <a:rPr sz="2325" b="1">
                <a:solidFill>
                  <a:srgbClr val="A6E1CB"/>
                </a:solidFill>
                <a:latin typeface="Helvetica Neue"/>
                <a:ea typeface="Helvetica Neue"/>
                <a:cs typeface="Helvetica Neue"/>
              </a:rPr>
              <a:t>Next evidence</a:t>
            </a:r>
          </a:p>
        </p:txBody>
      </p:sp>
      <p:sp>
        <p:nvSpPr>
          <p:cNvPr id="6" name="">
            <a:extLst xmlns:a="http://schemas.openxmlformats.org/drawingml/2006/main">
              <a:ext uri="{FF2B5EF4-FFF2-40B4-BE49-F238E27FC236}">
                <a16:creationId xmlns:a16="http://schemas.microsoft.com/office/drawing/2014/main" id="{3D0ED9BB-D0CC-4B5C-913A-AEB5FBC702E4}"/>
              </a:ext>
            </a:extLst>
          </p:cNvPr>
          <p:cNvSpPr>
            <a:spLocks xmlns:a="http://schemas.openxmlformats.org/drawingml/2006/main" noGrp="1"/>
          </p:cNvSpPr>
          <p:nvPr/>
        </p:nvSpPr>
        <p:spPr>
          <a:xfrm xmlns:a="http://schemas.openxmlformats.org/drawingml/2006/main">
            <a:off x="6600825" y="2343150"/>
            <a:ext cx="49720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Verify live Nemotron on Nebius</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Measure against human answer keys</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Observe quality managers using it</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Test a paid pilot and repeat usage</a:t>
            </a:r>
          </a:p>
        </p:txBody>
      </p:sp>
      <p:sp>
        <p:nvSpPr>
          <p:cNvPr id="7" name="">
            <a:extLst xmlns:a="http://schemas.openxmlformats.org/drawingml/2006/main">
              <a:ext uri="{FF2B5EF4-FFF2-40B4-BE49-F238E27FC236}">
                <a16:creationId xmlns:a16="http://schemas.microsoft.com/office/drawing/2014/main" id="{888CE4C2-3C73-463A-B048-1F14B74ED33E}"/>
              </a:ext>
            </a:extLst>
          </p:cNvPr>
          <p:cNvSpPr>
            <a:spLocks xmlns:a="http://schemas.openxmlformats.org/drawingml/2006/main" noGrp="1"/>
          </p:cNvSpPr>
          <p:nvPr/>
        </p:nvSpPr>
        <p:spPr>
          <a:xfrm xmlns:a="http://schemas.openxmlformats.org/drawingml/2006/main">
            <a:off x="638175" y="44196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6E1CB"/>
                </a:solidFill>
                <a:latin typeface="Helvetica Neue"/>
                <a:ea typeface="Helvetica Neue"/>
                <a:cs typeface="Helvetica Neue"/>
              </a:defRPr>
            </a:pPr>
            <a:r>
              <a:rPr sz="1650" b="0">
                <a:solidFill>
                  <a:srgbClr val="A6E1CB"/>
                </a:solidFill>
                <a:latin typeface="Helvetica Neue"/>
                <a:ea typeface="Helvetica Neue"/>
                <a:cs typeface="Helvetica Neue"/>
              </a:rPr>
              <a:t>Synthetic records and mocked provider contracts do not verify live model quality.</a:t>
            </a:r>
          </a:p>
        </p:txBody>
      </p:sp>
      <p:sp>
        <p:nvSpPr>
          <p:cNvPr id="8" name="">
            <a:extLst xmlns:a="http://schemas.openxmlformats.org/drawingml/2006/main">
              <a:ext uri="{FF2B5EF4-FFF2-40B4-BE49-F238E27FC236}">
                <a16:creationId xmlns:a16="http://schemas.microsoft.com/office/drawing/2014/main" id="{67D54B67-AFF5-4F26-A408-607EF83512BE}"/>
              </a:ext>
            </a:extLst>
          </p:cNvPr>
          <p:cNvSpPr>
            <a:spLocks xmlns:a="http://schemas.openxmlformats.org/drawingml/2006/main" noGrp="1"/>
          </p:cNvSpPr>
          <p:nvPr/>
        </p:nvSpPr>
        <p:spPr>
          <a:xfrm xmlns:a="http://schemas.openxmlformats.org/drawingml/2006/main">
            <a:off x="619125" y="50863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Shivam Gupta</a:t>
            </a:r>
          </a:p>
        </p:txBody>
      </p:sp>
      <p:sp>
        <p:nvSpPr>
          <p:cNvPr id="9" name="">
            <a:extLst xmlns:a="http://schemas.openxmlformats.org/drawingml/2006/main">
              <a:ext uri="{FF2B5EF4-FFF2-40B4-BE49-F238E27FC236}">
                <a16:creationId xmlns:a16="http://schemas.microsoft.com/office/drawing/2014/main" id="{F9E9E1D1-16AA-447D-A8B3-B6203F4AC228}"/>
              </a:ext>
            </a:extLst>
          </p:cNvPr>
          <p:cNvSpPr>
            <a:spLocks xmlns:a="http://schemas.openxmlformats.org/drawingml/2006/main" noGrp="1"/>
          </p:cNvSpPr>
          <p:nvPr/>
        </p:nvSpPr>
        <p:spPr>
          <a:xfrm xmlns:a="http://schemas.openxmlformats.org/drawingml/2006/main">
            <a:off x="638175" y="56483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6E1CB"/>
                </a:solidFill>
                <a:latin typeface="Helvetica Neue"/>
                <a:ea typeface="Helvetica Neue"/>
                <a:cs typeface="Helvetica Neue"/>
              </a:defRPr>
            </a:pPr>
            <a:r>
              <a:rPr sz="1875" b="0">
                <a:solidFill>
                  <a:srgbClr val="A6E1CB"/>
                </a:solidFill>
                <a:latin typeface="Helvetica Neue"/>
                <a:ea typeface="Helvetica Neue"/>
                <a:cs typeface="Helvetica Neue"/>
              </a:rPr>
              <a:t>Project creator, with AI-assisted implementation</a:t>
            </a:r>
          </a:p>
        </p:txBody>
      </p:sp>
    </p:spTree>
    <p:extLst>
      <p:ext uri="{BB962C8B-B14F-4D97-AF65-F5344CB8AC3E}">
        <p14:creationId xmlns:p14="http://schemas.microsoft.com/office/powerpoint/2010/main" val="655139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2026-09-16T13:49:26.9850000Z</dcterms:created>
  <dcterms:modified xsi:type="dcterms:W3CDTF">2026-09-16T13:49:26.9850000Z</dcterms:modified>
</coreProperties>
</file>