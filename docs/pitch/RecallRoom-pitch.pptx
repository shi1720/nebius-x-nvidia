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406be70e2bc4d16" /><Relationship Type="http://schemas.openxmlformats.org/officeDocument/2006/relationships/extended-properties" Target="/docProps/app.xml" Id="R22afe6d69e4a4534" /><Relationship Type="http://schemas.openxmlformats.org/officeDocument/2006/relationships/officeDocument" Target="/ppt/presentation.xml" Id="R99f15ed111444605" /></Relationships>
</file>

<file path=ppt/presentation.xml><?xml version="1.0" encoding="utf-8"?>
<p:presentation xmlns:p="http://schemas.openxmlformats.org/presentationml/2006/main">
  <p:sldMasterIdLst>
    <p:sldMasterId xmlns:r="http://schemas.openxmlformats.org/officeDocument/2006/relationships" id="2147483648" r:id="R5a56386669b4413e"/>
  </p:sldMasterIdLst>
  <p:notesMasterIdLst>
    <p:notesMasterId xmlns:r="http://schemas.openxmlformats.org/officeDocument/2006/relationships" r:id="R482f664035c24d22"/>
  </p:notesMasterIdLst>
  <p:sldIdLst>
    <p:sldId xmlns:r="http://schemas.openxmlformats.org/officeDocument/2006/relationships" id="256" r:id="Rcdcab7065fdc4027"/>
    <p:sldId xmlns:r="http://schemas.openxmlformats.org/officeDocument/2006/relationships" id="257" r:id="R6879b5dad3974e44"/>
    <p:sldId xmlns:r="http://schemas.openxmlformats.org/officeDocument/2006/relationships" id="258" r:id="R3c2ebe8760624ddd"/>
    <p:sldId xmlns:r="http://schemas.openxmlformats.org/officeDocument/2006/relationships" id="259" r:id="R64f43d310a994180"/>
    <p:sldId xmlns:r="http://schemas.openxmlformats.org/officeDocument/2006/relationships" id="260" r:id="R494033216cc24839"/>
    <p:sldId xmlns:r="http://schemas.openxmlformats.org/officeDocument/2006/relationships" id="261" r:id="Rf883c38a4c784d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8ca84b4e4e44c57" /><Relationship Type="http://schemas.openxmlformats.org/officeDocument/2006/relationships/slideMaster" Target="/ppt/slideMasters/slideMaster1.xml" Id="R5a56386669b4413e" /><Relationship Type="http://schemas.openxmlformats.org/officeDocument/2006/relationships/notesMaster" Target="/ppt/notesMasters/notesMaster1.xml" Id="R482f664035c24d22" /><Relationship Type="http://schemas.openxmlformats.org/officeDocument/2006/relationships/presProps" Target="/ppt/presProps.xml" Id="Rb0d1a8a0d7ef4293" /><Relationship Type="http://schemas.openxmlformats.org/officeDocument/2006/relationships/tableStyles" Target="/ppt/tableStyles.xml" Id="R43cc557dd0794605" /><Relationship Type="http://schemas.openxmlformats.org/officeDocument/2006/relationships/slide" Target="/ppt/slides/slide1.xml" Id="Rcdcab7065fdc4027" /><Relationship Type="http://schemas.openxmlformats.org/officeDocument/2006/relationships/slide" Target="/ppt/slides/slide2.xml" Id="R6879b5dad3974e44" /><Relationship Type="http://schemas.openxmlformats.org/officeDocument/2006/relationships/slide" Target="/ppt/slides/slide3.xml" Id="R3c2ebe8760624ddd" /><Relationship Type="http://schemas.openxmlformats.org/officeDocument/2006/relationships/slide" Target="/ppt/slides/slide4.xml" Id="R64f43d310a994180" /><Relationship Type="http://schemas.openxmlformats.org/officeDocument/2006/relationships/slide" Target="/ppt/slides/slide5.xml" Id="R494033216cc24839" /><Relationship Type="http://schemas.openxmlformats.org/officeDocument/2006/relationships/slide" Target="/ppt/slides/slide6.xml" Id="Rf883c38a4c784d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8c3a77a438e4d6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75c585baeba49f3" /><Relationship Type="http://schemas.openxmlformats.org/officeDocument/2006/relationships/notesMaster" Target="/ppt/notesMasters/notesMaster1.xml" Id="Rf371fd1777664a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45f772cd28b40cf" /><Relationship Type="http://schemas.openxmlformats.org/officeDocument/2006/relationships/notesMaster" Target="/ppt/notesMasters/notesMaster1.xml" Id="R5f57008d9b7f41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56510e27db4c2b" /><Relationship Type="http://schemas.openxmlformats.org/officeDocument/2006/relationships/notesMaster" Target="/ppt/notesMasters/notesMaster1.xml" Id="Ra60eab84d6a046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fe3217cfe6074151" /><Relationship Type="http://schemas.openxmlformats.org/officeDocument/2006/relationships/notesMaster" Target="/ppt/notesMasters/notesMaster1.xml" Id="R474b56f4f6df4c8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a0e257917447ee" /><Relationship Type="http://schemas.openxmlformats.org/officeDocument/2006/relationships/notesMaster" Target="/ppt/notesMasters/notesMaster1.xml" Id="R18fd365da15e4b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d4801643b04a46" /><Relationship Type="http://schemas.openxmlformats.org/officeDocument/2006/relationships/notesMaster" Target="/ppt/notesMasters/notesMaster1.xml" Id="Rab01fe9c789943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RecallRoom was created by Shivam Gupta with AI-assisted research, implementation, testing, and documentation. This deck describes the Firebase MVP and synthetic demonstration. Public demo: https://recallroom.web.app . Real NVIDIA Nemotron 3 Super execution through Nebius Token Factory passed the six-file hosted synthetic workflow. The trace records 17.562 seconds, 2600 input plus 4203 output tokens and an estimated $0.0045627 inference cost. One synthetic fixture does not establish real-world recall accuracy. No customer results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figures are synthetic demo fixtures. Lot PB-0901-A supplies 480 oat bars and 320 energy bites. Confirmed finished units total 800, including 600 shipped to three customers and 200 on site. The unresolved 240-cookie batch includes 120 shipped units and must remain separate from the confirmed 600. Another 360-oat-bar batch uses PB-0901-B. Source material is tracked in kilograms independently from finished units. The editable graph is a functional evidence schematic, not a screenshot of the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example: unresolved cookie production could have consumed 10 kg from lot A, so remaining ingredient initially ranges from 40 to 50 kg. Reviewed correction evidence assigning cookies to lot B removes that possible consumption from lot A, producing 50 kg remaining. This does not declare products generally safe. A case hold is a recorded recommendation/workflow state, not a physical warehouse action. The model cannot authorize release or silently resolve uncertain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deployment uses Firebase Hosting and Firebase Authentication, with server-verified Google or email/password identities. A Cloud Run API controls owner-scoped Firestore investigations and private Google Cloud Storage originals. Cloud Tasks dispatches authenticated background extraction. NVIDIA Nemotron 3 Super on Nebius Token Factory passed the six-file hosted synthetic workflow. Model ID: nvidia/nemotron-3-super-120b-a12b. Latency: 17.562 seconds. Usage: 2600 input and 4203 output tokens. Estimated inference cost: $0.0045627, excluding app infrastructure and review. All five scope totals matched, with no validation issues. A second UUID/PDF variant passed in 42.923 seconds with 1611 input and 4641 output tokens, estimated cost $0.0046602. Earlier incomplete attempts were not imported and prompted coverage checks. The small fictional scenario does not establish typical latency or real-world accuracy. Hosted evidence: docs/evaluation/hosted-nebius.json. Final adapter sends ordinary chat with the exact schema in the prompt and strict server JSON/Zod/evidence/coverage validation. It does not use provider response_format constraints. Hosted records were reviewed and imported, persisted after reload, and exported with source hashes and two quoted decisions. Text, CSV, JSON and selectable-text PDFs are supported. A reviewer must compare browser-extracted PDF text with the original. The app validates schema, exact quotations, references, cycles, units and balances, computes deterministic scope and ranges, and preserves reviewed decisions. Customer drafts remain unsent. Sources: repository README.md, docs/architecture.md and docs/STATUS.md for this Firebase release. Public demo: https://recallroom.web.app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research: FDA Traceability Readiness Tabletop Exercises Final Report, 2026, https://www.fda.gov/media/192993/download?attachment= . Fifteen firms voluntarily participated across six scenarios; the report explicitly warns against industry-wide generalization. Traditional business records often contained relevant facts, while lot code and source completeness remained challenges. Competitor primary sources: https://www.fooddocs.com/pricing and https://mar-kov.com/traceability/ . RecallRoom does not claim to be first, unique among every vendor, or a replacement for full food-safety or manufacturing platforms. $99 per site per month is an unvalidated pricing hypothesis. No interviews, paid pilots, savings or customer outcomes have been completed or measured. Consultant distribution and repeated readiness drills are hypotheses requiring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demo: https://recallroom.web.app . Repository: https://github.com/shi1720/Nebius-x-NVIDIA . Application verification: 41 automated tests, 60 hosted Firebase API checks and 10 operator checks against production Firestore functions. Hosted API checks use real disposable Firebase accounts and synthetic records. Operator checks do not enqueue inference. Provider contracts use mocks. These application tests are separate from the real NVIDIA evaluation, which passed sunward-v1 with exact expected scope totals. See docs/evaluation/hosted-nebius.json for actual hosted review, import, reload and export. Neither the application tests nor a single synthetic fixture proves customer value or real-world recall accuracy. Sources: docs/STATUS.md, docs/evaluation/firebase-api.json and docs/evaluation/firebase-operator.json. Founder/project creator credit: Shivam Gupta. AI assistance covered research, implementation, testing, and documentation; no additional personal actions or external validation are invented. Submission requires verified use of an NVIDIA open-source model on Nebius Token Factory or Nebius AI Cloud, a working public demo, public repository with license, and a public demo video at most three minutes with audio naming the provider and model. This deck is an honest MVP pitch, not a claim of readiness for real incident reliance.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bd761b9a094a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da00a946b8e4f1e" /><Relationship Type="http://schemas.openxmlformats.org/officeDocument/2006/relationships/slideLayout" Target="/ppt/slideLayouts/slideLayout1.xml" Id="R15b7d5b06f3747a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5b7d5b06f3747a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ff0810d5d484763" /><Relationship Type="http://schemas.openxmlformats.org/officeDocument/2006/relationships/notesSlide" Target="/ppt/notesSlides/notesSlide1.xml" Id="R862b9fe26f2a4e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24f06c6a70348c1" /><Relationship Type="http://schemas.openxmlformats.org/officeDocument/2006/relationships/notesSlide" Target="/ppt/notesSlides/notesSlide2.xml" Id="R9129ca166b1c4c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80d7615e5fd4d93" /><Relationship Type="http://schemas.openxmlformats.org/officeDocument/2006/relationships/notesSlide" Target="/ppt/notesSlides/notesSlide3.xml" Id="R46149fc1841d4f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2ba303848d44ae5" /><Relationship Type="http://schemas.openxmlformats.org/officeDocument/2006/relationships/notesSlide" Target="/ppt/notesSlides/notesSlide4.xml" Id="R989d42680d5441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e4b9f3a37224ec1" /><Relationship Type="http://schemas.openxmlformats.org/officeDocument/2006/relationships/notesSlide" Target="/ppt/notesSlides/notesSlide5.xml" Id="R67094e6f20c446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cc799f266d14688" /><Relationship Type="http://schemas.openxmlformats.org/officeDocument/2006/relationships/notesSlide" Target="/ppt/notesSlides/notesSlide6.xml" Id="Rabbe2d54db5949e1" /></Relationships>
</file>

<file path=ppt/slides/slide1.xml><?xml version="1.0" encoding="utf-8"?>
<p:sld xmlns:p="http://schemas.openxmlformats.org/presentationml/2006/main">
  <p:cSld>
    <p:bg>
      <p:bgPr>
        <a:solidFill xmlns:a="http://schemas.openxmlformats.org/drawingml/2006/main">
          <a:srgbClr val="122D3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C73DCB-E574-4349-88D1-05437336D28B}"/>
              </a:ext>
            </a:extLst>
          </p:cNvPr>
          <p:cNvSpPr>
            <a:spLocks xmlns:a="http://schemas.openxmlformats.org/drawingml/2006/main" noGrp="1"/>
          </p:cNvSpPr>
          <p:nvPr/>
        </p:nvSpPr>
        <p:spPr>
          <a:xfrm xmlns:a="http://schemas.openxmlformats.org/drawingml/2006/main">
            <a:off x="609600" y="1304925"/>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0" b="1">
                <a:solidFill>
                  <a:srgbClr val="FFFFFF"/>
                </a:solidFill>
                <a:latin typeface="Helvetica Neue"/>
                <a:ea typeface="Helvetica Neue"/>
                <a:cs typeface="Helvetica Neue"/>
              </a:defRPr>
            </a:pPr>
            <a:r>
              <a:rPr sz="6750" b="1">
                <a:solidFill>
                  <a:srgbClr val="FFFFFF"/>
                </a:solidFill>
                <a:latin typeface="Helvetica Neue"/>
                <a:ea typeface="Helvetica Neue"/>
                <a:cs typeface="Helvetica Neue"/>
              </a:rPr>
              <a:t>RecallRoom</a:t>
            </a:r>
          </a:p>
        </p:txBody>
      </p:sp>
      <p:sp>
        <p:nvSpPr>
          <p:cNvPr id="2" name="">
            <a:extLst xmlns:a="http://schemas.openxmlformats.org/drawingml/2006/main">
              <a:ext uri="{FF2B5EF4-FFF2-40B4-BE49-F238E27FC236}">
                <a16:creationId xmlns:a16="http://schemas.microsoft.com/office/drawing/2014/main" id="{4C32DD52-686F-42D7-8CC4-522143A932AE}"/>
              </a:ext>
            </a:extLst>
          </p:cNvPr>
          <p:cNvSpPr>
            <a:spLocks xmlns:a="http://schemas.openxmlformats.org/drawingml/2006/main" noGrp="1"/>
          </p:cNvSpPr>
          <p:nvPr/>
        </p:nvSpPr>
        <p:spPr>
          <a:xfrm xmlns:a="http://schemas.openxmlformats.org/drawingml/2006/main">
            <a:off x="647700" y="2733675"/>
            <a:ext cx="1038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A6E1CB"/>
                </a:solidFill>
                <a:latin typeface="Helvetica Neue"/>
                <a:ea typeface="Helvetica Neue"/>
                <a:cs typeface="Helvetica Neue"/>
              </a:defRPr>
            </a:pPr>
            <a:r>
              <a:rPr sz="3225" b="0">
                <a:solidFill>
                  <a:srgbClr val="A6E1CB"/>
                </a:solidFill>
                <a:latin typeface="Helvetica Neue"/>
                <a:ea typeface="Helvetica Neue"/>
                <a:cs typeface="Helvetica Neue"/>
              </a:rPr>
              <a:t>A supplier recalls one ingredient lot.</a:t>
            </a:r>
          </a:p>
          <a:p xmlns:a="http://schemas.openxmlformats.org/drawingml/2006/main">
            <a:pPr>
              <a:defRPr sz="3225" b="0">
                <a:solidFill>
                  <a:srgbClr val="A6E1CB"/>
                </a:solidFill>
                <a:latin typeface="Helvetica Neue"/>
                <a:ea typeface="Helvetica Neue"/>
                <a:cs typeface="Helvetica Neue"/>
              </a:defRPr>
            </a:pPr>
            <a:r>
              <a:rPr sz="3225" b="0">
                <a:solidFill>
                  <a:srgbClr val="A6E1CB"/>
                </a:solidFill>
                <a:latin typeface="Helvetica Neue"/>
                <a:ea typeface="Helvetica Neue"/>
                <a:cs typeface="Helvetica Neue"/>
              </a:rPr>
              <a:t>Which products and customers did it reach?</a:t>
            </a:r>
          </a:p>
        </p:txBody>
      </p:sp>
      <p:sp>
        <p:nvSpPr>
          <p:cNvPr id="3" name="">
            <a:extLst xmlns:a="http://schemas.openxmlformats.org/drawingml/2006/main">
              <a:ext uri="{FF2B5EF4-FFF2-40B4-BE49-F238E27FC236}">
                <a16:creationId xmlns:a16="http://schemas.microsoft.com/office/drawing/2014/main" id="{6F57F756-1F17-4EF4-815D-491CBB2030DC}"/>
              </a:ext>
            </a:extLst>
          </p:cNvPr>
          <p:cNvSpPr>
            <a:spLocks xmlns:a="http://schemas.openxmlformats.org/drawingml/2006/main" noGrp="1"/>
          </p:cNvSpPr>
          <p:nvPr/>
        </p:nvSpPr>
        <p:spPr>
          <a:xfrm xmlns:a="http://schemas.openxmlformats.org/drawingml/2006/main">
            <a:off x="647700" y="45529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An evidence workspace for small food manufacturers</a:t>
            </a:r>
          </a:p>
        </p:txBody>
      </p:sp>
      <p:sp>
        <p:nvSpPr>
          <p:cNvPr id="4" name="">
            <a:extLst xmlns:a="http://schemas.openxmlformats.org/drawingml/2006/main">
              <a:ext uri="{FF2B5EF4-FFF2-40B4-BE49-F238E27FC236}">
                <a16:creationId xmlns:a16="http://schemas.microsoft.com/office/drawing/2014/main" id="{AAAD7489-720E-4D2A-94DA-3A5F6335BE0F}"/>
              </a:ext>
            </a:extLst>
          </p:cNvPr>
          <p:cNvSpPr>
            <a:spLocks xmlns:a="http://schemas.openxmlformats.org/drawingml/2006/main" noGrp="1"/>
          </p:cNvSpPr>
          <p:nvPr/>
        </p:nvSpPr>
        <p:spPr>
          <a:xfrm xmlns:a="http://schemas.openxmlformats.org/drawingml/2006/main">
            <a:off x="647700" y="5162550"/>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E1CB"/>
                </a:solidFill>
                <a:latin typeface="Helvetica Neue"/>
                <a:ea typeface="Helvetica Neue"/>
                <a:cs typeface="Helvetica Neue"/>
              </a:defRPr>
            </a:pPr>
            <a:r>
              <a:rPr sz="1875" b="0">
                <a:solidFill>
                  <a:srgbClr val="A6E1CB"/>
                </a:solidFill>
                <a:latin typeface="Helvetica Neue"/>
                <a:ea typeface="Helvetica Neue"/>
                <a:cs typeface="Helvetica Neue"/>
              </a:rPr>
              <a:t>recallroom.web.app</a:t>
            </a:r>
          </a:p>
        </p:txBody>
      </p:sp>
      <p:sp>
        <p:nvSpPr>
          <p:cNvPr id="5" name="">
            <a:extLst xmlns:a="http://schemas.openxmlformats.org/drawingml/2006/main">
              <a:ext uri="{FF2B5EF4-FFF2-40B4-BE49-F238E27FC236}">
                <a16:creationId xmlns:a16="http://schemas.microsoft.com/office/drawing/2014/main" id="{C6525D3A-0FF1-4299-BC55-25EF51F59879}"/>
              </a:ext>
            </a:extLst>
          </p:cNvPr>
          <p:cNvSpPr>
            <a:spLocks xmlns:a="http://schemas.openxmlformats.org/drawingml/2006/main" noGrp="1"/>
          </p:cNvSpPr>
          <p:nvPr/>
        </p:nvSpPr>
        <p:spPr>
          <a:xfrm xmlns:a="http://schemas.openxmlformats.org/drawingml/2006/main">
            <a:off x="647700" y="5734050"/>
            <a:ext cx="685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Shivam Gupta</a:t>
            </a:r>
          </a:p>
          <a:p xmlns:a="http://schemas.openxmlformats.org/drawingml/2006/main">
            <a:pPr>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Project creator</a:t>
            </a:r>
          </a:p>
        </p:txBody>
      </p:sp>
      <p:sp>
        <p:nvSpPr>
          <p:cNvPr id="6" name="">
            <a:extLst xmlns:a="http://schemas.openxmlformats.org/drawingml/2006/main">
              <a:ext uri="{FF2B5EF4-FFF2-40B4-BE49-F238E27FC236}">
                <a16:creationId xmlns:a16="http://schemas.microsoft.com/office/drawing/2014/main" id="{CE80CE26-F317-48E9-ACC2-222CD97DA9EA}"/>
              </a:ext>
            </a:extLst>
          </p:cNvPr>
          <p:cNvSpPr>
            <a:spLocks xmlns:a="http://schemas.openxmlformats.org/drawingml/2006/main" noGrp="1"/>
          </p:cNvSpPr>
          <p:nvPr/>
        </p:nvSpPr>
        <p:spPr>
          <a:xfrm xmlns:a="http://schemas.openxmlformats.org/drawingml/2006/main">
            <a:off x="8534400" y="573405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A6E1CB"/>
                </a:solidFill>
                <a:latin typeface="Helvetica Neue"/>
                <a:ea typeface="Helvetica Neue"/>
                <a:cs typeface="Helvetica Neue"/>
              </a:defRPr>
            </a:pPr>
            <a:r>
              <a:rPr sz="1650" b="0">
                <a:solidFill>
                  <a:srgbClr val="A6E1CB"/>
                </a:solidFill>
                <a:latin typeface="Helvetica Neue"/>
                <a:ea typeface="Helvetica Neue"/>
                <a:cs typeface="Helvetica Neue"/>
              </a:rPr>
              <a:t>Nebius × NVIDIA</a:t>
            </a:r>
          </a:p>
          <a:p xmlns:a="http://schemas.openxmlformats.org/drawingml/2006/main">
            <a:pPr>
              <a:defRPr sz="1650" b="0">
                <a:solidFill>
                  <a:srgbClr val="A6E1CB"/>
                </a:solidFill>
                <a:latin typeface="Helvetica Neue"/>
                <a:ea typeface="Helvetica Neue"/>
                <a:cs typeface="Helvetica Neue"/>
              </a:defRPr>
            </a:pPr>
            <a:r>
              <a:rPr sz="1650" b="0">
                <a:solidFill>
                  <a:srgbClr val="A6E1CB"/>
                </a:solidFill>
                <a:latin typeface="Helvetica Neue"/>
                <a:ea typeface="Helvetica Neue"/>
                <a:cs typeface="Helvetica Neue"/>
              </a:rPr>
              <a:t>Best Apps and Agents</a:t>
            </a:r>
          </a:p>
        </p:txBody>
      </p:sp>
    </p:spTree>
    <p:extLst>
      <p:ext uri="{BB962C8B-B14F-4D97-AF65-F5344CB8AC3E}">
        <p14:creationId xmlns:p14="http://schemas.microsoft.com/office/powerpoint/2010/main" val="106483366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1BDE0A6-0DC2-4A3A-8BD5-FA0B91BEF301}"/>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The recalled lot has a traceable scope</a:t>
            </a:r>
          </a:p>
        </p:txBody>
      </p:sp>
      <p:sp>
        <p:nvSpPr>
          <p:cNvPr id="2" name="">
            <a:extLst xmlns:a="http://schemas.openxmlformats.org/drawingml/2006/main">
              <a:ext uri="{FF2B5EF4-FFF2-40B4-BE49-F238E27FC236}">
                <a16:creationId xmlns:a16="http://schemas.microsoft.com/office/drawing/2014/main" id="{47FBAEF1-0AA1-49A3-AD2E-EDE2F2FDAACE}"/>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2</a:t>
            </a:r>
          </a:p>
        </p:txBody>
      </p:sp>
      <p:sp>
        <p:nvSpPr>
          <p:cNvPr id="3" name="">
            <a:extLst xmlns:a="http://schemas.openxmlformats.org/drawingml/2006/main">
              <a:ext uri="{FF2B5EF4-FFF2-40B4-BE49-F238E27FC236}">
                <a16:creationId xmlns:a16="http://schemas.microsoft.com/office/drawing/2014/main" id="{3CBA955B-2493-4B8A-9D3D-54412360947F}"/>
              </a:ext>
            </a:extLst>
          </p:cNvPr>
          <p:cNvSpPr>
            <a:spLocks xmlns:a="http://schemas.openxmlformats.org/drawingml/2006/main" noGrp="1"/>
          </p:cNvSpPr>
          <p:nvPr/>
        </p:nvSpPr>
        <p:spPr>
          <a:xfrm xmlns:a="http://schemas.openxmlformats.org/drawingml/2006/main">
            <a:off x="628650" y="13049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Fictional drill: peanut-butter lot PB-0901-A</a:t>
            </a:r>
          </a:p>
        </p:txBody>
      </p:sp>
      <p:sp>
        <p:nvSpPr>
          <p:cNvPr id="4" name="">
            <a:extLst xmlns:a="http://schemas.openxmlformats.org/drawingml/2006/main">
              <a:ext uri="{FF2B5EF4-FFF2-40B4-BE49-F238E27FC236}">
                <a16:creationId xmlns:a16="http://schemas.microsoft.com/office/drawing/2014/main" id="{793693A1-D281-4B7C-B742-08FC3BDBB7ED}"/>
              </a:ext>
            </a:extLst>
          </p:cNvPr>
          <p:cNvSpPr>
            <a:spLocks xmlns:a="http://schemas.openxmlformats.org/drawingml/2006/main" noGrp="1"/>
          </p:cNvSpPr>
          <p:nvPr/>
        </p:nvSpPr>
        <p:spPr>
          <a:xfrm xmlns:a="http://schemas.openxmlformats.org/drawingml/2006/main">
            <a:off x="609600" y="2590800"/>
            <a:ext cx="2000250" cy="1066800"/>
          </a:xfrm>
          <a:prstGeom xmlns:a="http://schemas.openxmlformats.org/drawingml/2006/main" prst="rect">
            <a:avLst/>
          </a:prstGeom>
          <a:solidFill xmlns:a="http://schemas.openxmlformats.org/drawingml/2006/main">
            <a:srgbClr val="122D3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PB-0901-A</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100 kg received</a:t>
            </a:r>
          </a:p>
        </p:txBody>
      </p:sp>
      <p:sp>
        <p:nvSpPr>
          <p:cNvPr id="5" name="">
            <a:extLst xmlns:a="http://schemas.openxmlformats.org/drawingml/2006/main">
              <a:ext uri="{FF2B5EF4-FFF2-40B4-BE49-F238E27FC236}">
                <a16:creationId xmlns:a16="http://schemas.microsoft.com/office/drawing/2014/main" id="{4219E5BD-9719-4F62-8898-FEB522471776}"/>
              </a:ext>
            </a:extLst>
          </p:cNvPr>
          <p:cNvSpPr>
            <a:spLocks xmlns:a="http://schemas.openxmlformats.org/drawingml/2006/main" noGrp="1"/>
          </p:cNvSpPr>
          <p:nvPr/>
        </p:nvSpPr>
        <p:spPr>
          <a:xfrm xmlns:a="http://schemas.openxmlformats.org/drawingml/2006/main">
            <a:off x="3295650" y="2095500"/>
            <a:ext cx="21907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Oat bars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480 units</a:t>
            </a:r>
          </a:p>
        </p:txBody>
      </p:sp>
      <p:sp>
        <p:nvSpPr>
          <p:cNvPr id="6" name="">
            <a:extLst xmlns:a="http://schemas.openxmlformats.org/drawingml/2006/main">
              <a:ext uri="{FF2B5EF4-FFF2-40B4-BE49-F238E27FC236}">
                <a16:creationId xmlns:a16="http://schemas.microsoft.com/office/drawing/2014/main" id="{3421C76A-CFD1-4998-8800-EDEDC886C1AD}"/>
              </a:ext>
            </a:extLst>
          </p:cNvPr>
          <p:cNvSpPr>
            <a:spLocks xmlns:a="http://schemas.openxmlformats.org/drawingml/2006/main" noGrp="1"/>
          </p:cNvSpPr>
          <p:nvPr/>
        </p:nvSpPr>
        <p:spPr>
          <a:xfrm xmlns:a="http://schemas.openxmlformats.org/drawingml/2006/main">
            <a:off x="3295650" y="3419475"/>
            <a:ext cx="21907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Energy bites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320 units</a:t>
            </a:r>
          </a:p>
        </p:txBody>
      </p:sp>
      <p:sp>
        <p:nvSpPr>
          <p:cNvPr id="7" name="">
            <a:extLst xmlns:a="http://schemas.openxmlformats.org/drawingml/2006/main">
              <a:ext uri="{FF2B5EF4-FFF2-40B4-BE49-F238E27FC236}">
                <a16:creationId xmlns:a16="http://schemas.microsoft.com/office/drawing/2014/main" id="{6C1C7209-A47D-41B3-9D13-BE60F76C0053}"/>
              </a:ext>
            </a:extLst>
          </p:cNvPr>
          <p:cNvSpPr>
            <a:spLocks xmlns:a="http://schemas.openxmlformats.org/drawingml/2006/main" noGrp="1"/>
          </p:cNvSpPr>
          <p:nvPr/>
        </p:nvSpPr>
        <p:spPr>
          <a:xfrm xmlns:a="http://schemas.openxmlformats.org/drawingml/2006/main">
            <a:off x="9010650" y="2095500"/>
            <a:ext cx="2495550" cy="952500"/>
          </a:xfrm>
          <a:prstGeom xmlns:a="http://schemas.openxmlformats.org/drawingml/2006/main" prst="rect">
            <a:avLst/>
          </a:prstGeom>
          <a:solidFill xmlns:a="http://schemas.openxmlformats.org/drawingml/2006/main">
            <a:srgbClr val="13695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600 shipped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3 customers</a:t>
            </a:r>
          </a:p>
        </p:txBody>
      </p:sp>
      <p:sp>
        <p:nvSpPr>
          <p:cNvPr id="8" name="">
            <a:extLst xmlns:a="http://schemas.openxmlformats.org/drawingml/2006/main">
              <a:ext uri="{FF2B5EF4-FFF2-40B4-BE49-F238E27FC236}">
                <a16:creationId xmlns:a16="http://schemas.microsoft.com/office/drawing/2014/main" id="{573D51E2-A950-479A-972F-8D677A8ABBFE}"/>
              </a:ext>
            </a:extLst>
          </p:cNvPr>
          <p:cNvSpPr>
            <a:spLocks xmlns:a="http://schemas.openxmlformats.org/drawingml/2006/main" noGrp="1"/>
          </p:cNvSpPr>
          <p:nvPr/>
        </p:nvSpPr>
        <p:spPr>
          <a:xfrm xmlns:a="http://schemas.openxmlformats.org/drawingml/2006/main">
            <a:off x="9010650" y="3419475"/>
            <a:ext cx="24955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200 units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on site</a:t>
            </a:r>
          </a:p>
        </p:txBody>
      </p:sp>
      <p:sp>
        <p:nvSpPr>
          <p:cNvPr id="9" name="">
            <a:extLst xmlns:a="http://schemas.openxmlformats.org/drawingml/2006/main">
              <a:ext uri="{FF2B5EF4-FFF2-40B4-BE49-F238E27FC236}">
                <a16:creationId xmlns:a16="http://schemas.microsoft.com/office/drawing/2014/main" id="{C9645D90-9C01-4B7A-83D0-9F6351203F70}"/>
              </a:ext>
            </a:extLst>
          </p:cNvPr>
          <p:cNvSpPr>
            <a:spLocks xmlns:a="http://schemas.openxmlformats.org/drawingml/2006/main" noGrp="1"/>
          </p:cNvSpPr>
          <p:nvPr/>
        </p:nvSpPr>
        <p:spPr>
          <a:xfrm xmlns:a="http://schemas.openxmlformats.org/drawingml/2006/main">
            <a:off x="6334125" y="2590800"/>
            <a:ext cx="1809750" cy="10668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136956"/>
                </a:solidFill>
                <a:latin typeface="Helvetica Neue"/>
                <a:ea typeface="Helvetica Neue"/>
                <a:cs typeface="Helvetica Neue"/>
              </a:defRPr>
            </a:pPr>
            <a:r>
              <a:rPr sz="2100" b="1">
                <a:solidFill>
                  <a:srgbClr val="136956"/>
                </a:solidFill>
                <a:latin typeface="Helvetica Neue"/>
                <a:ea typeface="Helvetica Neue"/>
                <a:cs typeface="Helvetica Neue"/>
              </a:rPr>
              <a:t>800 units</a:t>
            </a:r>
          </a:p>
          <a:p xmlns:a="http://schemas.openxmlformats.org/drawingml/2006/main">
            <a:pPr algn="ctr">
              <a:defRPr sz="2100" b="1">
                <a:solidFill>
                  <a:srgbClr val="136956"/>
                </a:solidFill>
                <a:latin typeface="Helvetica Neue"/>
                <a:ea typeface="Helvetica Neue"/>
                <a:cs typeface="Helvetica Neue"/>
              </a:defRPr>
            </a:pPr>
            <a:r>
              <a:rPr sz="2100" b="1">
                <a:solidFill>
                  <a:srgbClr val="136956"/>
                </a:solidFill>
                <a:latin typeface="Helvetica Neue"/>
                <a:ea typeface="Helvetica Neue"/>
                <a:cs typeface="Helvetica Neue"/>
              </a:rPr>
              <a:t>confirmed</a:t>
            </a:r>
          </a:p>
        </p:txBody>
      </p:sp>
      <p:cxnSp>
        <p:nvCxnSpPr>
          <p:cNvPr id="27" name=""/>
          <p:cNvCxnSpPr>
            <a:stCxn xmlns:a="http://schemas.openxmlformats.org/drawingml/2006/main" id="4" idx="3"/>
            <a:endCxn xmlns:a="http://schemas.openxmlformats.org/drawingml/2006/main" id="5" idx="1"/>
          </p:cNvCxnSpPr>
          <p:nvPr/>
        </p:nvCxnSpPr>
        <p:spPr>
          <a:xfrm xmlns:a="http://schemas.openxmlformats.org/drawingml/2006/main" flipV="1">
            <a:off x="2609850" y="2571750"/>
            <a:ext cx="685800"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28" name=""/>
          <p:cNvCxnSpPr>
            <a:stCxn xmlns:a="http://schemas.openxmlformats.org/drawingml/2006/main" id="4" idx="3"/>
            <a:endCxn xmlns:a="http://schemas.openxmlformats.org/drawingml/2006/main" id="6" idx="1"/>
          </p:cNvCxnSpPr>
          <p:nvPr/>
        </p:nvCxnSpPr>
        <p:spPr>
          <a:xfrm xmlns:a="http://schemas.openxmlformats.org/drawingml/2006/main">
            <a:off x="2609850" y="3124200"/>
            <a:ext cx="685800"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29" name=""/>
          <p:cNvCxnSpPr>
            <a:stCxn xmlns:a="http://schemas.openxmlformats.org/drawingml/2006/main" id="5" idx="3"/>
            <a:endCxn xmlns:a="http://schemas.openxmlformats.org/drawingml/2006/main" id="9" idx="1"/>
          </p:cNvCxnSpPr>
          <p:nvPr/>
        </p:nvCxnSpPr>
        <p:spPr>
          <a:xfrm xmlns:a="http://schemas.openxmlformats.org/drawingml/2006/main">
            <a:off x="5486400" y="2571750"/>
            <a:ext cx="847725"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0" name=""/>
          <p:cNvCxnSpPr>
            <a:stCxn xmlns:a="http://schemas.openxmlformats.org/drawingml/2006/main" id="6" idx="3"/>
            <a:endCxn xmlns:a="http://schemas.openxmlformats.org/drawingml/2006/main" id="9" idx="1"/>
          </p:cNvCxnSpPr>
          <p:nvPr/>
        </p:nvCxnSpPr>
        <p:spPr>
          <a:xfrm xmlns:a="http://schemas.openxmlformats.org/drawingml/2006/main" flipV="1">
            <a:off x="5486400" y="3124200"/>
            <a:ext cx="847725"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1" name=""/>
          <p:cNvCxnSpPr>
            <a:stCxn xmlns:a="http://schemas.openxmlformats.org/drawingml/2006/main" id="9" idx="3"/>
            <a:endCxn xmlns:a="http://schemas.openxmlformats.org/drawingml/2006/main" id="7" idx="1"/>
          </p:cNvCxnSpPr>
          <p:nvPr/>
        </p:nvCxnSpPr>
        <p:spPr>
          <a:xfrm xmlns:a="http://schemas.openxmlformats.org/drawingml/2006/main" flipV="1">
            <a:off x="8143875" y="2571750"/>
            <a:ext cx="866775"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2" name=""/>
          <p:cNvCxnSpPr>
            <a:stCxn xmlns:a="http://schemas.openxmlformats.org/drawingml/2006/main" id="9" idx="3"/>
            <a:endCxn xmlns:a="http://schemas.openxmlformats.org/drawingml/2006/main" id="8" idx="1"/>
          </p:cNvCxnSpPr>
          <p:nvPr/>
        </p:nvCxnSpPr>
        <p:spPr>
          <a:xfrm xmlns:a="http://schemas.openxmlformats.org/drawingml/2006/main">
            <a:off x="8143875" y="3124200"/>
            <a:ext cx="866775"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sp>
        <p:nvSpPr>
          <p:cNvPr id="16" name="">
            <a:extLst xmlns:a="http://schemas.openxmlformats.org/drawingml/2006/main">
              <a:ext uri="{FF2B5EF4-FFF2-40B4-BE49-F238E27FC236}">
                <a16:creationId xmlns:a16="http://schemas.microsoft.com/office/drawing/2014/main" id="{1A295E02-B04C-438A-BB13-8A888E6734D3}"/>
              </a:ext>
            </a:extLst>
          </p:cNvPr>
          <p:cNvSpPr>
            <a:spLocks xmlns:a="http://schemas.openxmlformats.org/drawingml/2006/main" noGrp="1"/>
          </p:cNvSpPr>
          <p:nvPr/>
        </p:nvSpPr>
        <p:spPr>
          <a:xfrm xmlns:a="http://schemas.openxmlformats.org/drawingml/2006/main">
            <a:off x="628650" y="49149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22D36"/>
                </a:solidFill>
                <a:latin typeface="Helvetica Neue"/>
                <a:ea typeface="Helvetica Neue"/>
                <a:cs typeface="Helvetica Neue"/>
              </a:defRPr>
            </a:pPr>
            <a:r>
              <a:rPr sz="1950" b="0">
                <a:solidFill>
                  <a:srgbClr val="122D36"/>
                </a:solidFill>
                <a:latin typeface="Helvetica Neue"/>
                <a:ea typeface="Helvetica Neue"/>
                <a:cs typeface="Helvetica Neue"/>
              </a:rPr>
              <a:t>Source records support each relationship. Finished units and ingredient kilograms stay separate.</a:t>
            </a:r>
          </a:p>
        </p:txBody>
      </p:sp>
      <p:sp>
        <p:nvSpPr>
          <p:cNvPr id="17" name="">
            <a:extLst xmlns:a="http://schemas.openxmlformats.org/drawingml/2006/main">
              <a:ext uri="{FF2B5EF4-FFF2-40B4-BE49-F238E27FC236}">
                <a16:creationId xmlns:a16="http://schemas.microsoft.com/office/drawing/2014/main" id="{D2E1DFEA-843E-4AEF-840E-28AAD18DA5A5}"/>
              </a:ext>
            </a:extLst>
          </p:cNvPr>
          <p:cNvSpPr>
            <a:spLocks xmlns:a="http://schemas.openxmlformats.org/drawingml/2006/main" noGrp="1"/>
          </p:cNvSpPr>
          <p:nvPr/>
        </p:nvSpPr>
        <p:spPr>
          <a:xfrm xmlns:a="http://schemas.openxmlformats.org/drawingml/2006/main">
            <a:off x="628650" y="5648325"/>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B6409"/>
                </a:solidFill>
                <a:latin typeface="Helvetica Neue"/>
                <a:ea typeface="Helvetica Neue"/>
                <a:cs typeface="Helvetica Neue"/>
              </a:defRPr>
            </a:pPr>
            <a:r>
              <a:rPr sz="1725" b="1">
                <a:solidFill>
                  <a:srgbClr val="9B6409"/>
                </a:solidFill>
                <a:latin typeface="Helvetica Neue"/>
                <a:ea typeface="Helvetica Neue"/>
                <a:cs typeface="Helvetica Neue"/>
              </a:rPr>
              <a:t>A separate 240-cookie batch remains unresolved and on hold in the case.</a:t>
            </a:r>
          </a:p>
        </p:txBody>
      </p:sp>
    </p:spTree>
    <p:extLst>
      <p:ext uri="{BB962C8B-B14F-4D97-AF65-F5344CB8AC3E}">
        <p14:creationId xmlns:p14="http://schemas.microsoft.com/office/powerpoint/2010/main" val="3078422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1B6F31-4812-4AB5-91C0-C876178C09C8}"/>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Uncertainty changes only with evidence</a:t>
            </a:r>
          </a:p>
        </p:txBody>
      </p:sp>
      <p:sp>
        <p:nvSpPr>
          <p:cNvPr id="2" name="">
            <a:extLst xmlns:a="http://schemas.openxmlformats.org/drawingml/2006/main">
              <a:ext uri="{FF2B5EF4-FFF2-40B4-BE49-F238E27FC236}">
                <a16:creationId xmlns:a16="http://schemas.microsoft.com/office/drawing/2014/main" id="{FA56A92A-7BDA-48DC-A2D0-DF660D50074F}"/>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3</a:t>
            </a:r>
          </a:p>
        </p:txBody>
      </p:sp>
      <p:sp>
        <p:nvSpPr>
          <p:cNvPr id="3" name="">
            <a:extLst xmlns:a="http://schemas.openxmlformats.org/drawingml/2006/main">
              <a:ext uri="{FF2B5EF4-FFF2-40B4-BE49-F238E27FC236}">
                <a16:creationId xmlns:a16="http://schemas.microsoft.com/office/drawing/2014/main" id="{509C6AAB-6AAA-4355-BB36-03F9040E21DF}"/>
              </a:ext>
            </a:extLst>
          </p:cNvPr>
          <p:cNvSpPr>
            <a:spLocks xmlns:a="http://schemas.openxmlformats.org/drawingml/2006/main" noGrp="1"/>
          </p:cNvSpPr>
          <p:nvPr/>
        </p:nvSpPr>
        <p:spPr>
          <a:xfrm xmlns:a="http://schemas.openxmlformats.org/drawingml/2006/main">
            <a:off x="619125" y="1476375"/>
            <a:ext cx="476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9B6409"/>
                </a:solidFill>
                <a:latin typeface="Helvetica Neue"/>
                <a:ea typeface="Helvetica Neue"/>
                <a:cs typeface="Helvetica Neue"/>
              </a:defRPr>
            </a:pPr>
            <a:r>
              <a:rPr sz="2250" b="1">
                <a:solidFill>
                  <a:srgbClr val="9B6409"/>
                </a:solidFill>
                <a:latin typeface="Helvetica Neue"/>
                <a:ea typeface="Helvetica Neue"/>
                <a:cs typeface="Helvetica Neue"/>
              </a:rPr>
              <a:t>Before review</a:t>
            </a:r>
          </a:p>
        </p:txBody>
      </p:sp>
      <p:sp>
        <p:nvSpPr>
          <p:cNvPr id="4" name="">
            <a:extLst xmlns:a="http://schemas.openxmlformats.org/drawingml/2006/main">
              <a:ext uri="{FF2B5EF4-FFF2-40B4-BE49-F238E27FC236}">
                <a16:creationId xmlns:a16="http://schemas.microsoft.com/office/drawing/2014/main" id="{A2E0DE01-C15B-4CF9-8284-EC7DCCBBFE8E}"/>
              </a:ext>
            </a:extLst>
          </p:cNvPr>
          <p:cNvSpPr>
            <a:spLocks xmlns:a="http://schemas.openxmlformats.org/drawingml/2006/main" noGrp="1"/>
          </p:cNvSpPr>
          <p:nvPr/>
        </p:nvSpPr>
        <p:spPr>
          <a:xfrm xmlns:a="http://schemas.openxmlformats.org/drawingml/2006/main">
            <a:off x="619125" y="2105025"/>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122D36"/>
                </a:solidFill>
                <a:latin typeface="Helvetica Neue"/>
                <a:ea typeface="Helvetica Neue"/>
                <a:cs typeface="Helvetica Neue"/>
              </a:defRPr>
            </a:pPr>
            <a:r>
              <a:rPr sz="3975" b="1">
                <a:solidFill>
                  <a:srgbClr val="122D36"/>
                </a:solidFill>
                <a:latin typeface="Helvetica Neue"/>
                <a:ea typeface="Helvetica Neue"/>
                <a:cs typeface="Helvetica Neue"/>
              </a:rPr>
              <a:t>240 cookies</a:t>
            </a:r>
          </a:p>
        </p:txBody>
      </p:sp>
      <p:sp>
        <p:nvSpPr>
          <p:cNvPr id="5" name="">
            <a:extLst xmlns:a="http://schemas.openxmlformats.org/drawingml/2006/main">
              <a:ext uri="{FF2B5EF4-FFF2-40B4-BE49-F238E27FC236}">
                <a16:creationId xmlns:a16="http://schemas.microsoft.com/office/drawing/2014/main" id="{33A31678-51E5-4925-BA25-AC65053CEFEA}"/>
              </a:ext>
            </a:extLst>
          </p:cNvPr>
          <p:cNvSpPr>
            <a:spLocks xmlns:a="http://schemas.openxmlformats.org/drawingml/2006/main" noGrp="1"/>
          </p:cNvSpPr>
          <p:nvPr/>
        </p:nvSpPr>
        <p:spPr>
          <a:xfrm xmlns:a="http://schemas.openxmlformats.org/drawingml/2006/main">
            <a:off x="638175" y="3038475"/>
            <a:ext cx="4762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lot reference is ambiguous.</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120 shipped units require investigation.</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case keeps this exposure visible.</a:t>
            </a:r>
          </a:p>
        </p:txBody>
      </p:sp>
      <p:sp>
        <p:nvSpPr>
          <p:cNvPr id="6" name="">
            <a:extLst xmlns:a="http://schemas.openxmlformats.org/drawingml/2006/main">
              <a:ext uri="{FF2B5EF4-FFF2-40B4-BE49-F238E27FC236}">
                <a16:creationId xmlns:a16="http://schemas.microsoft.com/office/drawing/2014/main" id="{01C4CF95-94F5-418B-BDA1-2A9D58305726}"/>
              </a:ext>
            </a:extLst>
          </p:cNvPr>
          <p:cNvSpPr>
            <a:spLocks xmlns:a="http://schemas.openxmlformats.org/drawingml/2006/main" noGrp="1"/>
          </p:cNvSpPr>
          <p:nvPr/>
        </p:nvSpPr>
        <p:spPr>
          <a:xfrm xmlns:a="http://schemas.openxmlformats.org/drawingml/2006/main">
            <a:off x="619125" y="4676775"/>
            <a:ext cx="4857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9B6409"/>
                </a:solidFill>
                <a:latin typeface="Helvetica Neue"/>
                <a:ea typeface="Helvetica Neue"/>
                <a:cs typeface="Helvetica Neue"/>
              </a:defRPr>
            </a:pPr>
            <a:r>
              <a:rPr sz="3525" b="1">
                <a:solidFill>
                  <a:srgbClr val="9B6409"/>
                </a:solidFill>
                <a:latin typeface="Helvetica Neue"/>
                <a:ea typeface="Helvetica Neue"/>
                <a:cs typeface="Helvetica Neue"/>
              </a:rPr>
              <a:t>40-50 kg</a:t>
            </a:r>
          </a:p>
        </p:txBody>
      </p:sp>
      <p:sp>
        <p:nvSpPr>
          <p:cNvPr id="7" name="">
            <a:extLst xmlns:a="http://schemas.openxmlformats.org/drawingml/2006/main">
              <a:ext uri="{FF2B5EF4-FFF2-40B4-BE49-F238E27FC236}">
                <a16:creationId xmlns:a16="http://schemas.microsoft.com/office/drawing/2014/main" id="{5F61D965-C766-4804-B769-53B9BA5B1A41}"/>
              </a:ext>
            </a:extLst>
          </p:cNvPr>
          <p:cNvSpPr>
            <a:spLocks xmlns:a="http://schemas.openxmlformats.org/drawingml/2006/main" noGrp="1"/>
          </p:cNvSpPr>
          <p:nvPr/>
        </p:nvSpPr>
        <p:spPr>
          <a:xfrm xmlns:a="http://schemas.openxmlformats.org/drawingml/2006/main">
            <a:off x="638175" y="541020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Lot A ingredient remaining</a:t>
            </a:r>
          </a:p>
        </p:txBody>
      </p:sp>
      <p:sp>
        <p:nvSpPr>
          <p:cNvPr id="8" name="">
            <a:extLst xmlns:a="http://schemas.openxmlformats.org/drawingml/2006/main">
              <a:ext uri="{FF2B5EF4-FFF2-40B4-BE49-F238E27FC236}">
                <a16:creationId xmlns:a16="http://schemas.microsoft.com/office/drawing/2014/main" id="{D8BD515E-6AB3-425B-9DF6-C315483C4209}"/>
              </a:ext>
            </a:extLst>
          </p:cNvPr>
          <p:cNvSpPr>
            <a:spLocks xmlns:a="http://schemas.openxmlformats.org/drawingml/2006/main" noGrp="1"/>
          </p:cNvSpPr>
          <p:nvPr/>
        </p:nvSpPr>
        <p:spPr>
          <a:xfrm xmlns:a="http://schemas.openxmlformats.org/drawingml/2006/main">
            <a:off x="6572250" y="1476375"/>
            <a:ext cx="5000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36956"/>
                </a:solidFill>
                <a:latin typeface="Helvetica Neue"/>
                <a:ea typeface="Helvetica Neue"/>
                <a:cs typeface="Helvetica Neue"/>
              </a:defRPr>
            </a:pPr>
            <a:r>
              <a:rPr sz="2250" b="1">
                <a:solidFill>
                  <a:srgbClr val="136956"/>
                </a:solidFill>
                <a:latin typeface="Helvetica Neue"/>
                <a:ea typeface="Helvetica Neue"/>
                <a:cs typeface="Helvetica Neue"/>
              </a:rPr>
              <a:t>After a reviewed correction</a:t>
            </a:r>
          </a:p>
        </p:txBody>
      </p:sp>
      <p:sp>
        <p:nvSpPr>
          <p:cNvPr id="9" name="">
            <a:extLst xmlns:a="http://schemas.openxmlformats.org/drawingml/2006/main">
              <a:ext uri="{FF2B5EF4-FFF2-40B4-BE49-F238E27FC236}">
                <a16:creationId xmlns:a16="http://schemas.microsoft.com/office/drawing/2014/main" id="{AB85B1DC-7CB2-4B54-810A-0584BA775AE9}"/>
              </a:ext>
            </a:extLst>
          </p:cNvPr>
          <p:cNvSpPr>
            <a:spLocks xmlns:a="http://schemas.openxmlformats.org/drawingml/2006/main" noGrp="1"/>
          </p:cNvSpPr>
          <p:nvPr/>
        </p:nvSpPr>
        <p:spPr>
          <a:xfrm xmlns:a="http://schemas.openxmlformats.org/drawingml/2006/main">
            <a:off x="6572250" y="2105025"/>
            <a:ext cx="5000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22D36"/>
                </a:solidFill>
                <a:latin typeface="Helvetica Neue"/>
                <a:ea typeface="Helvetica Neue"/>
                <a:cs typeface="Helvetica Neue"/>
              </a:defRPr>
            </a:pPr>
            <a:r>
              <a:rPr sz="3600" b="1">
                <a:solidFill>
                  <a:srgbClr val="122D36"/>
                </a:solidFill>
                <a:latin typeface="Helvetica Neue"/>
                <a:ea typeface="Helvetica Neue"/>
                <a:cs typeface="Helvetica Neue"/>
              </a:rPr>
              <a:t>Lot B confirmed</a:t>
            </a:r>
          </a:p>
        </p:txBody>
      </p:sp>
      <p:sp>
        <p:nvSpPr>
          <p:cNvPr id="10" name="">
            <a:extLst xmlns:a="http://schemas.openxmlformats.org/drawingml/2006/main">
              <a:ext uri="{FF2B5EF4-FFF2-40B4-BE49-F238E27FC236}">
                <a16:creationId xmlns:a16="http://schemas.microsoft.com/office/drawing/2014/main" id="{D3DA7A57-42E0-4822-836B-A672E9D51B8E}"/>
              </a:ext>
            </a:extLst>
          </p:cNvPr>
          <p:cNvSpPr>
            <a:spLocks xmlns:a="http://schemas.openxmlformats.org/drawingml/2006/main" noGrp="1"/>
          </p:cNvSpPr>
          <p:nvPr/>
        </p:nvSpPr>
        <p:spPr>
          <a:xfrm xmlns:a="http://schemas.openxmlformats.org/drawingml/2006/main">
            <a:off x="6591300" y="3038475"/>
            <a:ext cx="49720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A reviewer attaches supporting evidence.</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decision log records the correction.</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graph recalculates Lot A exposure.</a:t>
            </a:r>
          </a:p>
        </p:txBody>
      </p:sp>
      <p:sp>
        <p:nvSpPr>
          <p:cNvPr id="11" name="">
            <a:extLst xmlns:a="http://schemas.openxmlformats.org/drawingml/2006/main">
              <a:ext uri="{FF2B5EF4-FFF2-40B4-BE49-F238E27FC236}">
                <a16:creationId xmlns:a16="http://schemas.microsoft.com/office/drawing/2014/main" id="{DA0A3217-78A4-4D99-BF31-F4428B5DA73B}"/>
              </a:ext>
            </a:extLst>
          </p:cNvPr>
          <p:cNvSpPr>
            <a:spLocks xmlns:a="http://schemas.openxmlformats.org/drawingml/2006/main" noGrp="1"/>
          </p:cNvSpPr>
          <p:nvPr/>
        </p:nvSpPr>
        <p:spPr>
          <a:xfrm xmlns:a="http://schemas.openxmlformats.org/drawingml/2006/main">
            <a:off x="6572250" y="4676775"/>
            <a:ext cx="5000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36956"/>
                </a:solidFill>
                <a:latin typeface="Helvetica Neue"/>
                <a:ea typeface="Helvetica Neue"/>
                <a:cs typeface="Helvetica Neue"/>
              </a:defRPr>
            </a:pPr>
            <a:r>
              <a:rPr sz="3525" b="1">
                <a:solidFill>
                  <a:srgbClr val="136956"/>
                </a:solidFill>
                <a:latin typeface="Helvetica Neue"/>
                <a:ea typeface="Helvetica Neue"/>
                <a:cs typeface="Helvetica Neue"/>
              </a:rPr>
              <a:t>50 kg</a:t>
            </a:r>
          </a:p>
        </p:txBody>
      </p:sp>
      <p:sp>
        <p:nvSpPr>
          <p:cNvPr id="12" name="">
            <a:extLst xmlns:a="http://schemas.openxmlformats.org/drawingml/2006/main">
              <a:ext uri="{FF2B5EF4-FFF2-40B4-BE49-F238E27FC236}">
                <a16:creationId xmlns:a16="http://schemas.microsoft.com/office/drawing/2014/main" id="{8988024E-C1C9-4228-A9ED-E22A64070365}"/>
              </a:ext>
            </a:extLst>
          </p:cNvPr>
          <p:cNvSpPr>
            <a:spLocks xmlns:a="http://schemas.openxmlformats.org/drawingml/2006/main" noGrp="1"/>
          </p:cNvSpPr>
          <p:nvPr/>
        </p:nvSpPr>
        <p:spPr>
          <a:xfrm xmlns:a="http://schemas.openxmlformats.org/drawingml/2006/main">
            <a:off x="6591300" y="5410200"/>
            <a:ext cx="4972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Lot A ingredient remaining</a:t>
            </a:r>
          </a:p>
        </p:txBody>
      </p:sp>
    </p:spTree>
    <p:extLst>
      <p:ext uri="{BB962C8B-B14F-4D97-AF65-F5344CB8AC3E}">
        <p14:creationId xmlns:p14="http://schemas.microsoft.com/office/powerpoint/2010/main" val="19688132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7ADE55E-DBEF-41FF-9224-22DA22795D5E}"/>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The model drafts. The reviewer decides.</a:t>
            </a:r>
          </a:p>
        </p:txBody>
      </p:sp>
      <p:sp>
        <p:nvSpPr>
          <p:cNvPr id="2" name="">
            <a:extLst xmlns:a="http://schemas.openxmlformats.org/drawingml/2006/main">
              <a:ext uri="{FF2B5EF4-FFF2-40B4-BE49-F238E27FC236}">
                <a16:creationId xmlns:a16="http://schemas.microsoft.com/office/drawing/2014/main" id="{761E9B09-D10F-4305-9F1D-A87A4BA68DCD}"/>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4</a:t>
            </a:r>
          </a:p>
        </p:txBody>
      </p:sp>
      <p:sp>
        <p:nvSpPr>
          <p:cNvPr id="3" name="">
            <a:extLst xmlns:a="http://schemas.openxmlformats.org/drawingml/2006/main">
              <a:ext uri="{FF2B5EF4-FFF2-40B4-BE49-F238E27FC236}">
                <a16:creationId xmlns:a16="http://schemas.microsoft.com/office/drawing/2014/main" id="{84245AA7-80BF-48E8-B922-BC5F709F49C4}"/>
              </a:ext>
            </a:extLst>
          </p:cNvPr>
          <p:cNvSpPr>
            <a:spLocks xmlns:a="http://schemas.openxmlformats.org/drawingml/2006/main" noGrp="1"/>
          </p:cNvSpPr>
          <p:nvPr/>
        </p:nvSpPr>
        <p:spPr>
          <a:xfrm xmlns:a="http://schemas.openxmlformats.org/drawingml/2006/main">
            <a:off x="609600" y="1733550"/>
            <a:ext cx="2286000" cy="70485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Source records</a:t>
            </a:r>
          </a:p>
        </p:txBody>
      </p:sp>
      <p:sp>
        <p:nvSpPr>
          <p:cNvPr id="4" name="">
            <a:extLst xmlns:a="http://schemas.openxmlformats.org/drawingml/2006/main">
              <a:ext uri="{FF2B5EF4-FFF2-40B4-BE49-F238E27FC236}">
                <a16:creationId xmlns:a16="http://schemas.microsoft.com/office/drawing/2014/main" id="{59D9516B-0E61-4F01-B163-C21219A23F28}"/>
              </a:ext>
            </a:extLst>
          </p:cNvPr>
          <p:cNvSpPr>
            <a:spLocks xmlns:a="http://schemas.openxmlformats.org/drawingml/2006/main" noGrp="1"/>
          </p:cNvSpPr>
          <p:nvPr/>
        </p:nvSpPr>
        <p:spPr>
          <a:xfrm xmlns:a="http://schemas.openxmlformats.org/drawingml/2006/main">
            <a:off x="3486150" y="1733550"/>
            <a:ext cx="2286000" cy="704850"/>
          </a:xfrm>
          <a:prstGeom xmlns:a="http://schemas.openxmlformats.org/drawingml/2006/main" prst="rect">
            <a:avLst/>
          </a:prstGeom>
          <a:solidFill xmlns:a="http://schemas.openxmlformats.org/drawingml/2006/main">
            <a:srgbClr val="13695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Nemotron draft</a:t>
            </a:r>
          </a:p>
        </p:txBody>
      </p:sp>
      <p:sp>
        <p:nvSpPr>
          <p:cNvPr id="5" name="">
            <a:extLst xmlns:a="http://schemas.openxmlformats.org/drawingml/2006/main">
              <a:ext uri="{FF2B5EF4-FFF2-40B4-BE49-F238E27FC236}">
                <a16:creationId xmlns:a16="http://schemas.microsoft.com/office/drawing/2014/main" id="{FE84125F-F67D-4092-831F-E3F9ABDDEB55}"/>
              </a:ext>
            </a:extLst>
          </p:cNvPr>
          <p:cNvSpPr>
            <a:spLocks xmlns:a="http://schemas.openxmlformats.org/drawingml/2006/main" noGrp="1"/>
          </p:cNvSpPr>
          <p:nvPr/>
        </p:nvSpPr>
        <p:spPr>
          <a:xfrm xmlns:a="http://schemas.openxmlformats.org/drawingml/2006/main">
            <a:off x="6362700" y="1733550"/>
            <a:ext cx="2286000" cy="70485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Application checks</a:t>
            </a:r>
          </a:p>
        </p:txBody>
      </p:sp>
      <p:sp>
        <p:nvSpPr>
          <p:cNvPr id="6" name="">
            <a:extLst xmlns:a="http://schemas.openxmlformats.org/drawingml/2006/main">
              <a:ext uri="{FF2B5EF4-FFF2-40B4-BE49-F238E27FC236}">
                <a16:creationId xmlns:a16="http://schemas.microsoft.com/office/drawing/2014/main" id="{433AB595-A69D-44F8-A298-27456F5F6958}"/>
              </a:ext>
            </a:extLst>
          </p:cNvPr>
          <p:cNvSpPr>
            <a:spLocks xmlns:a="http://schemas.openxmlformats.org/drawingml/2006/main" noGrp="1"/>
          </p:cNvSpPr>
          <p:nvPr/>
        </p:nvSpPr>
        <p:spPr>
          <a:xfrm xmlns:a="http://schemas.openxmlformats.org/drawingml/2006/main">
            <a:off x="9239250" y="1733550"/>
            <a:ext cx="2286000" cy="704850"/>
          </a:xfrm>
          <a:prstGeom xmlns:a="http://schemas.openxmlformats.org/drawingml/2006/main" prst="rect">
            <a:avLst/>
          </a:prstGeom>
          <a:solidFill xmlns:a="http://schemas.openxmlformats.org/drawingml/2006/main">
            <a:srgbClr val="122D3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Human approval</a:t>
            </a:r>
          </a:p>
        </p:txBody>
      </p:sp>
      <p:cxnSp>
        <p:nvCxnSpPr>
          <p:cNvPr id="24" name=""/>
          <p:cNvCxnSpPr>
            <a:stCxn xmlns:a="http://schemas.openxmlformats.org/drawingml/2006/main" id="3" idx="3"/>
            <a:endCxn xmlns:a="http://schemas.openxmlformats.org/drawingml/2006/main" id="4" idx="1"/>
          </p:cNvCxnSpPr>
          <p:nvPr/>
        </p:nvCxnSpPr>
        <p:spPr>
          <a:xfrm xmlns:a="http://schemas.openxmlformats.org/drawingml/2006/main">
            <a:off x="289560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cxnSp>
        <p:nvCxnSpPr>
          <p:cNvPr id="25" name=""/>
          <p:cNvCxnSpPr>
            <a:stCxn xmlns:a="http://schemas.openxmlformats.org/drawingml/2006/main" id="4" idx="3"/>
            <a:endCxn xmlns:a="http://schemas.openxmlformats.org/drawingml/2006/main" id="5" idx="1"/>
          </p:cNvCxnSpPr>
          <p:nvPr/>
        </p:nvCxnSpPr>
        <p:spPr>
          <a:xfrm xmlns:a="http://schemas.openxmlformats.org/drawingml/2006/main">
            <a:off x="577215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cxnSp>
        <p:nvCxnSpPr>
          <p:cNvPr id="26" name=""/>
          <p:cNvCxnSpPr>
            <a:stCxn xmlns:a="http://schemas.openxmlformats.org/drawingml/2006/main" id="5" idx="3"/>
            <a:endCxn xmlns:a="http://schemas.openxmlformats.org/drawingml/2006/main" id="6" idx="1"/>
          </p:cNvCxnSpPr>
          <p:nvPr/>
        </p:nvCxnSpPr>
        <p:spPr>
          <a:xfrm xmlns:a="http://schemas.openxmlformats.org/drawingml/2006/main">
            <a:off x="864870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sp>
        <p:nvSpPr>
          <p:cNvPr id="10" name="">
            <a:extLst xmlns:a="http://schemas.openxmlformats.org/drawingml/2006/main">
              <a:ext uri="{FF2B5EF4-FFF2-40B4-BE49-F238E27FC236}">
                <a16:creationId xmlns:a16="http://schemas.microsoft.com/office/drawing/2014/main" id="{DC9F738A-D324-46FC-BB45-4F84F3DE2C93}"/>
              </a:ext>
            </a:extLst>
          </p:cNvPr>
          <p:cNvSpPr>
            <a:spLocks xmlns:a="http://schemas.openxmlformats.org/drawingml/2006/main" noGrp="1"/>
          </p:cNvSpPr>
          <p:nvPr/>
        </p:nvSpPr>
        <p:spPr>
          <a:xfrm xmlns:a="http://schemas.openxmlformats.org/drawingml/2006/main">
            <a:off x="619125"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Firebase sign-in</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Private GCS originals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Text, CSV, JSON, PDF*</a:t>
            </a:r>
          </a:p>
        </p:txBody>
      </p:sp>
      <p:sp>
        <p:nvSpPr>
          <p:cNvPr id="11" name="">
            <a:extLst xmlns:a="http://schemas.openxmlformats.org/drawingml/2006/main">
              <a:ext uri="{FF2B5EF4-FFF2-40B4-BE49-F238E27FC236}">
                <a16:creationId xmlns:a16="http://schemas.microsoft.com/office/drawing/2014/main" id="{410B2FF7-4084-488C-9D53-262B376B705D}"/>
              </a:ext>
            </a:extLst>
          </p:cNvPr>
          <p:cNvSpPr>
            <a:spLocks xmlns:a="http://schemas.openxmlformats.org/drawingml/2006/main" noGrp="1"/>
          </p:cNvSpPr>
          <p:nvPr/>
        </p:nvSpPr>
        <p:spPr>
          <a:xfrm xmlns:a="http://schemas.openxmlformats.org/drawingml/2006/main">
            <a:off x="348615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Nebius Token Factory</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Schema in prompt</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Cited proposals</a:t>
            </a:r>
          </a:p>
        </p:txBody>
      </p:sp>
      <p:sp>
        <p:nvSpPr>
          <p:cNvPr id="12" name="">
            <a:extLst xmlns:a="http://schemas.openxmlformats.org/drawingml/2006/main">
              <a:ext uri="{FF2B5EF4-FFF2-40B4-BE49-F238E27FC236}">
                <a16:creationId xmlns:a16="http://schemas.microsoft.com/office/drawing/2014/main" id="{219EE39B-8E2A-4BFB-BD9D-3BD72A57817D}"/>
              </a:ext>
            </a:extLst>
          </p:cNvPr>
          <p:cNvSpPr>
            <a:spLocks xmlns:a="http://schemas.openxmlformats.org/drawingml/2006/main" noGrp="1"/>
          </p:cNvSpPr>
          <p:nvPr/>
        </p:nvSpPr>
        <p:spPr>
          <a:xfrm xmlns:a="http://schemas.openxmlformats.org/drawingml/2006/main">
            <a:off x="636270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Schema validation</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Lot graph and ranges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Deterministic quantities</a:t>
            </a:r>
          </a:p>
        </p:txBody>
      </p:sp>
      <p:sp>
        <p:nvSpPr>
          <p:cNvPr id="13" name="">
            <a:extLst xmlns:a="http://schemas.openxmlformats.org/drawingml/2006/main">
              <a:ext uri="{FF2B5EF4-FFF2-40B4-BE49-F238E27FC236}">
                <a16:creationId xmlns:a16="http://schemas.microsoft.com/office/drawing/2014/main" id="{FE79580C-3040-44FC-B1AA-61DC67BEA836}"/>
              </a:ext>
            </a:extLst>
          </p:cNvPr>
          <p:cNvSpPr>
            <a:spLocks xmlns:a="http://schemas.openxmlformats.org/drawingml/2006/main" noGrp="1"/>
          </p:cNvSpPr>
          <p:nvPr/>
        </p:nvSpPr>
        <p:spPr>
          <a:xfrm xmlns:a="http://schemas.openxmlformats.org/drawingml/2006/main">
            <a:off x="923925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Evidence decisions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Cases in Firestore</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Portable response packet</a:t>
            </a:r>
          </a:p>
        </p:txBody>
      </p:sp>
      <p:sp>
        <p:nvSpPr>
          <p:cNvPr id="14" name="">
            <a:extLst xmlns:a="http://schemas.openxmlformats.org/drawingml/2006/main">
              <a:ext uri="{FF2B5EF4-FFF2-40B4-BE49-F238E27FC236}">
                <a16:creationId xmlns:a16="http://schemas.microsoft.com/office/drawing/2014/main" id="{1529AC23-8E43-48BD-A7EC-AFD775EA30FB}"/>
              </a:ext>
            </a:extLst>
          </p:cNvPr>
          <p:cNvSpPr>
            <a:spLocks xmlns:a="http://schemas.openxmlformats.org/drawingml/2006/main" noGrp="1"/>
          </p:cNvSpPr>
          <p:nvPr/>
        </p:nvSpPr>
        <p:spPr>
          <a:xfrm xmlns:a="http://schemas.openxmlformats.org/drawingml/2006/main">
            <a:off x="628650" y="410527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970"/>
                </a:solidFill>
                <a:latin typeface="Helvetica Neue"/>
                <a:ea typeface="Helvetica Neue"/>
                <a:cs typeface="Helvetica Neue"/>
              </a:defRPr>
            </a:pPr>
            <a:r>
              <a:rPr sz="1725" b="0">
                <a:solidFill>
                  <a:srgbClr val="526970"/>
                </a:solidFill>
                <a:latin typeface="Helvetica Neue"/>
                <a:ea typeface="Helvetica Neue"/>
                <a:cs typeface="Helvetica Neue"/>
              </a:rPr>
              <a:t>Firebase hosts the app. Cloud Run and Cloud Tasks handle authenticated extraction.</a:t>
            </a:r>
          </a:p>
        </p:txBody>
      </p:sp>
      <p:sp>
        <p:nvSpPr>
          <p:cNvPr id="15" name="">
            <a:extLst xmlns:a="http://schemas.openxmlformats.org/drawingml/2006/main">
              <a:ext uri="{FF2B5EF4-FFF2-40B4-BE49-F238E27FC236}">
                <a16:creationId xmlns:a16="http://schemas.microsoft.com/office/drawing/2014/main" id="{1C75C4E2-B1C7-4787-9BB1-0B78E011EA7E}"/>
              </a:ext>
            </a:extLst>
          </p:cNvPr>
          <p:cNvSpPr>
            <a:spLocks xmlns:a="http://schemas.openxmlformats.org/drawingml/2006/main" noGrp="1"/>
          </p:cNvSpPr>
          <p:nvPr/>
        </p:nvSpPr>
        <p:spPr>
          <a:xfrm xmlns:a="http://schemas.openxmlformats.org/drawingml/2006/main">
            <a:off x="628650" y="46577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6956"/>
                </a:solidFill>
                <a:latin typeface="Helvetica Neue"/>
                <a:ea typeface="Helvetica Neue"/>
                <a:cs typeface="Helvetica Neue"/>
              </a:defRPr>
            </a:pPr>
            <a:r>
              <a:rPr sz="2175" b="1">
                <a:solidFill>
                  <a:srgbClr val="136956"/>
                </a:solidFill>
                <a:latin typeface="Helvetica Neue"/>
                <a:ea typeface="Helvetica Neue"/>
                <a:cs typeface="Helvetica Neue"/>
              </a:rPr>
              <a:t>HTML, CSV and JSON exports include evidence and unsent customer drafts.</a:t>
            </a:r>
          </a:p>
        </p:txBody>
      </p:sp>
      <p:sp>
        <p:nvSpPr>
          <p:cNvPr id="16" name="">
            <a:extLst xmlns:a="http://schemas.openxmlformats.org/drawingml/2006/main">
              <a:ext uri="{FF2B5EF4-FFF2-40B4-BE49-F238E27FC236}">
                <a16:creationId xmlns:a16="http://schemas.microsoft.com/office/drawing/2014/main" id="{AB872C5A-2BA9-4480-B419-08CC2761A847}"/>
              </a:ext>
            </a:extLst>
          </p:cNvPr>
          <p:cNvSpPr>
            <a:spLocks xmlns:a="http://schemas.openxmlformats.org/drawingml/2006/main" noGrp="1"/>
          </p:cNvSpPr>
          <p:nvPr/>
        </p:nvSpPr>
        <p:spPr>
          <a:xfrm xmlns:a="http://schemas.openxmlformats.org/drawingml/2006/main">
            <a:off x="628650" y="54006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36956"/>
                </a:solidFill>
                <a:latin typeface="Helvetica Neue"/>
                <a:ea typeface="Helvetica Neue"/>
                <a:cs typeface="Helvetica Neue"/>
              </a:defRPr>
            </a:pPr>
            <a:r>
              <a:rPr sz="1725" b="1">
                <a:solidFill>
                  <a:srgbClr val="136956"/>
                </a:solidFill>
                <a:latin typeface="Helvetica Neue"/>
                <a:ea typeface="Helvetica Neue"/>
                <a:cs typeface="Helvetica Neue"/>
              </a:rPr>
              <a:t>Hosted Nemotron 3 Super run: 17.562 seconds, about $0.00456 in estimated inference cost.</a:t>
            </a:r>
          </a:p>
        </p:txBody>
      </p:sp>
      <p:sp>
        <p:nvSpPr>
          <p:cNvPr id="17" name="">
            <a:extLst xmlns:a="http://schemas.openxmlformats.org/drawingml/2006/main">
              <a:ext uri="{FF2B5EF4-FFF2-40B4-BE49-F238E27FC236}">
                <a16:creationId xmlns:a16="http://schemas.microsoft.com/office/drawing/2014/main" id="{FA7F7AB5-1F47-4AD0-A677-FEAD33E8EFE8}"/>
              </a:ext>
            </a:extLst>
          </p:cNvPr>
          <p:cNvSpPr>
            <a:spLocks xmlns:a="http://schemas.openxmlformats.org/drawingml/2006/main" noGrp="1"/>
          </p:cNvSpPr>
          <p:nvPr/>
        </p:nvSpPr>
        <p:spPr>
          <a:xfrm xmlns:a="http://schemas.openxmlformats.org/drawingml/2006/main">
            <a:off x="628650" y="59912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970"/>
                </a:solidFill>
                <a:latin typeface="Helvetica Neue"/>
                <a:ea typeface="Helvetica Neue"/>
                <a:cs typeface="Helvetica Neue"/>
              </a:defRPr>
            </a:pPr>
            <a:r>
              <a:rPr sz="1275" b="0">
                <a:solidFill>
                  <a:srgbClr val="526970"/>
                </a:solidFill>
                <a:latin typeface="Helvetica Neue"/>
                <a:ea typeface="Helvetica Neue"/>
                <a:cs typeface="Helvetica Neue"/>
              </a:rPr>
              <a:t>*Text PDFs require a person to verify the extracted text. Scanned-image OCR is outside this MVP.</a:t>
            </a:r>
          </a:p>
        </p:txBody>
      </p:sp>
    </p:spTree>
    <p:extLst>
      <p:ext uri="{BB962C8B-B14F-4D97-AF65-F5344CB8AC3E}">
        <p14:creationId xmlns:p14="http://schemas.microsoft.com/office/powerpoint/2010/main" val="4584977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2D2F3A3-9BC7-446E-8893-81DE19F4048E}"/>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A focused workflow for a specific buyer</a:t>
            </a:r>
          </a:p>
        </p:txBody>
      </p:sp>
      <p:sp>
        <p:nvSpPr>
          <p:cNvPr id="2" name="">
            <a:extLst xmlns:a="http://schemas.openxmlformats.org/drawingml/2006/main">
              <a:ext uri="{FF2B5EF4-FFF2-40B4-BE49-F238E27FC236}">
                <a16:creationId xmlns:a16="http://schemas.microsoft.com/office/drawing/2014/main" id="{4318F53D-FB49-4F97-AC30-4B66B39FE749}"/>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5</a:t>
            </a:r>
          </a:p>
        </p:txBody>
      </p:sp>
      <p:sp>
        <p:nvSpPr>
          <p:cNvPr id="3" name="">
            <a:extLst xmlns:a="http://schemas.openxmlformats.org/drawingml/2006/main">
              <a:ext uri="{FF2B5EF4-FFF2-40B4-BE49-F238E27FC236}">
                <a16:creationId xmlns:a16="http://schemas.microsoft.com/office/drawing/2014/main" id="{6463AA16-8D13-4887-A1FE-E0BCED4936E8}"/>
              </a:ext>
            </a:extLst>
          </p:cNvPr>
          <p:cNvSpPr>
            <a:spLocks xmlns:a="http://schemas.openxmlformats.org/drawingml/2006/main" noGrp="1"/>
          </p:cNvSpPr>
          <p:nvPr/>
        </p:nvSpPr>
        <p:spPr>
          <a:xfrm xmlns:a="http://schemas.openxmlformats.org/drawingml/2006/main">
            <a:off x="619125" y="1428750"/>
            <a:ext cx="63341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22D36"/>
                </a:solidFill>
                <a:latin typeface="Helvetica Neue"/>
                <a:ea typeface="Helvetica Neue"/>
                <a:cs typeface="Helvetica Neue"/>
              </a:defRPr>
            </a:pPr>
            <a:r>
              <a:rPr sz="2925" b="1">
                <a:solidFill>
                  <a:srgbClr val="122D36"/>
                </a:solidFill>
                <a:latin typeface="Helvetica Neue"/>
                <a:ea typeface="Helvetica Neue"/>
                <a:cs typeface="Helvetica Neue"/>
              </a:rPr>
              <a:t>Small food manufacturers</a:t>
            </a:r>
          </a:p>
          <a:p xmlns:a="http://schemas.openxmlformats.org/drawingml/2006/main">
            <a:pPr>
              <a:defRPr sz="2925" b="1">
                <a:solidFill>
                  <a:srgbClr val="122D36"/>
                </a:solidFill>
                <a:latin typeface="Helvetica Neue"/>
                <a:ea typeface="Helvetica Neue"/>
                <a:cs typeface="Helvetica Neue"/>
              </a:defRPr>
            </a:pPr>
            <a:r>
              <a:rPr sz="2925" b="1">
                <a:solidFill>
                  <a:srgbClr val="122D36"/>
                </a:solidFill>
                <a:latin typeface="Helvetica Neue"/>
                <a:ea typeface="Helvetica Neue"/>
                <a:cs typeface="Helvetica Neue"/>
              </a:rPr>
              <a:t>and co-packers</a:t>
            </a:r>
          </a:p>
        </p:txBody>
      </p:sp>
      <p:sp>
        <p:nvSpPr>
          <p:cNvPr id="4" name="">
            <a:extLst xmlns:a="http://schemas.openxmlformats.org/drawingml/2006/main">
              <a:ext uri="{FF2B5EF4-FFF2-40B4-BE49-F238E27FC236}">
                <a16:creationId xmlns:a16="http://schemas.microsoft.com/office/drawing/2014/main" id="{D049B527-5288-4659-B44F-EAAFCBF69EDA}"/>
              </a:ext>
            </a:extLst>
          </p:cNvPr>
          <p:cNvSpPr>
            <a:spLocks xmlns:a="http://schemas.openxmlformats.org/drawingml/2006/main" noGrp="1"/>
          </p:cNvSpPr>
          <p:nvPr/>
        </p:nvSpPr>
        <p:spPr>
          <a:xfrm xmlns:a="http://schemas.openxmlformats.org/drawingml/2006/main">
            <a:off x="638175" y="2647950"/>
            <a:ext cx="64008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Quality managers run a traceability drill using</a:t>
            </a:r>
          </a:p>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records they already keep. Consultants could</a:t>
            </a:r>
          </a:p>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bring the workflow to several client sites.</a:t>
            </a:r>
          </a:p>
        </p:txBody>
      </p:sp>
      <p:sp>
        <p:nvSpPr>
          <p:cNvPr id="5" name="">
            <a:extLst xmlns:a="http://schemas.openxmlformats.org/drawingml/2006/main">
              <a:ext uri="{FF2B5EF4-FFF2-40B4-BE49-F238E27FC236}">
                <a16:creationId xmlns:a16="http://schemas.microsoft.com/office/drawing/2014/main" id="{6514817B-3B6C-4D2C-9C15-521399083DE8}"/>
              </a:ext>
            </a:extLst>
          </p:cNvPr>
          <p:cNvSpPr>
            <a:spLocks xmlns:a="http://schemas.openxmlformats.org/drawingml/2006/main" noGrp="1"/>
          </p:cNvSpPr>
          <p:nvPr/>
        </p:nvSpPr>
        <p:spPr>
          <a:xfrm xmlns:a="http://schemas.openxmlformats.org/drawingml/2006/main">
            <a:off x="8096250" y="1666875"/>
            <a:ext cx="3333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75" b="1">
                <a:solidFill>
                  <a:srgbClr val="136956"/>
                </a:solidFill>
                <a:latin typeface="Helvetica Neue"/>
                <a:ea typeface="Helvetica Neue"/>
                <a:cs typeface="Helvetica Neue"/>
              </a:defRPr>
            </a:pPr>
            <a:r>
              <a:rPr sz="5475" b="1">
                <a:solidFill>
                  <a:srgbClr val="136956"/>
                </a:solidFill>
                <a:latin typeface="Helvetica Neue"/>
                <a:ea typeface="Helvetica Neue"/>
                <a:cs typeface="Helvetica Neue"/>
              </a:rPr>
              <a:t>$99</a:t>
            </a:r>
          </a:p>
        </p:txBody>
      </p:sp>
      <p:sp>
        <p:nvSpPr>
          <p:cNvPr id="6" name="">
            <a:extLst xmlns:a="http://schemas.openxmlformats.org/drawingml/2006/main">
              <a:ext uri="{FF2B5EF4-FFF2-40B4-BE49-F238E27FC236}">
                <a16:creationId xmlns:a16="http://schemas.microsoft.com/office/drawing/2014/main" id="{14C33E2E-76FD-4C93-8A9C-17119767CC38}"/>
              </a:ext>
            </a:extLst>
          </p:cNvPr>
          <p:cNvSpPr>
            <a:spLocks xmlns:a="http://schemas.openxmlformats.org/drawingml/2006/main" noGrp="1"/>
          </p:cNvSpPr>
          <p:nvPr/>
        </p:nvSpPr>
        <p:spPr>
          <a:xfrm xmlns:a="http://schemas.openxmlformats.org/drawingml/2006/main">
            <a:off x="8124825" y="2714625"/>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per site / month</a:t>
            </a:r>
          </a:p>
        </p:txBody>
      </p:sp>
      <p:sp>
        <p:nvSpPr>
          <p:cNvPr id="7" name="">
            <a:extLst xmlns:a="http://schemas.openxmlformats.org/drawingml/2006/main">
              <a:ext uri="{FF2B5EF4-FFF2-40B4-BE49-F238E27FC236}">
                <a16:creationId xmlns:a16="http://schemas.microsoft.com/office/drawing/2014/main" id="{E669FBD7-C532-416B-A57A-7CBA6F3C73BF}"/>
              </a:ext>
            </a:extLst>
          </p:cNvPr>
          <p:cNvSpPr>
            <a:spLocks xmlns:a="http://schemas.openxmlformats.org/drawingml/2006/main" noGrp="1"/>
          </p:cNvSpPr>
          <p:nvPr/>
        </p:nvSpPr>
        <p:spPr>
          <a:xfrm xmlns:a="http://schemas.openxmlformats.org/drawingml/2006/main">
            <a:off x="8124825" y="3324225"/>
            <a:ext cx="335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9B6409"/>
                </a:solidFill>
                <a:latin typeface="Helvetica Neue"/>
                <a:ea typeface="Helvetica Neue"/>
                <a:cs typeface="Helvetica Neue"/>
              </a:defRPr>
            </a:pPr>
            <a:r>
              <a:rPr sz="1800" b="0">
                <a:solidFill>
                  <a:srgbClr val="9B6409"/>
                </a:solidFill>
                <a:latin typeface="Helvetica Neue"/>
                <a:ea typeface="Helvetica Neue"/>
                <a:cs typeface="Helvetica Neue"/>
              </a:rPr>
              <a:t>Pricing hypothesis</a:t>
            </a:r>
          </a:p>
          <a:p xmlns:a="http://schemas.openxmlformats.org/drawingml/2006/main">
            <a:pPr>
              <a:defRPr sz="1800" b="0">
                <a:solidFill>
                  <a:srgbClr val="9B6409"/>
                </a:solidFill>
                <a:latin typeface="Helvetica Neue"/>
                <a:ea typeface="Helvetica Neue"/>
                <a:cs typeface="Helvetica Neue"/>
              </a:defRPr>
            </a:pPr>
            <a:r>
              <a:rPr sz="1800" b="0">
                <a:solidFill>
                  <a:srgbClr val="9B6409"/>
                </a:solidFill>
                <a:latin typeface="Helvetica Neue"/>
                <a:ea typeface="Helvetica Neue"/>
                <a:cs typeface="Helvetica Neue"/>
              </a:rPr>
              <a:t>No paying customers yet</a:t>
            </a:r>
          </a:p>
        </p:txBody>
      </p:sp>
      <p:sp>
        <p:nvSpPr>
          <p:cNvPr id="8" name="">
            <a:extLst xmlns:a="http://schemas.openxmlformats.org/drawingml/2006/main">
              <a:ext uri="{FF2B5EF4-FFF2-40B4-BE49-F238E27FC236}">
                <a16:creationId xmlns:a16="http://schemas.microsoft.com/office/drawing/2014/main" id="{6BD862F6-020E-4DDC-A572-47D7EBDE4918}"/>
              </a:ext>
            </a:extLst>
          </p:cNvPr>
          <p:cNvSpPr>
            <a:spLocks xmlns:a="http://schemas.openxmlformats.org/drawingml/2006/main" noGrp="1"/>
          </p:cNvSpPr>
          <p:nvPr/>
        </p:nvSpPr>
        <p:spPr>
          <a:xfrm xmlns:a="http://schemas.openxmlformats.org/drawingml/2006/main">
            <a:off x="638175" y="4410075"/>
            <a:ext cx="10858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FDA’s 2026 exercise with 15 voluntary firms found gaps in traceability information. The sample is not industry-wide evidence.</a:t>
            </a:r>
          </a:p>
        </p:txBody>
      </p:sp>
      <p:sp>
        <p:nvSpPr>
          <p:cNvPr id="9" name="">
            <a:extLst xmlns:a="http://schemas.openxmlformats.org/drawingml/2006/main">
              <a:ext uri="{FF2B5EF4-FFF2-40B4-BE49-F238E27FC236}">
                <a16:creationId xmlns:a16="http://schemas.microsoft.com/office/drawing/2014/main" id="{D0BC3017-BFA5-43DF-B585-CA0B8F325A44}"/>
              </a:ext>
            </a:extLst>
          </p:cNvPr>
          <p:cNvSpPr>
            <a:spLocks xmlns:a="http://schemas.openxmlformats.org/drawingml/2006/main" noGrp="1"/>
          </p:cNvSpPr>
          <p:nvPr/>
        </p:nvSpPr>
        <p:spPr>
          <a:xfrm xmlns:a="http://schemas.openxmlformats.org/drawingml/2006/main">
            <a:off x="638175" y="5534025"/>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970"/>
                </a:solidFill>
                <a:latin typeface="Helvetica Neue"/>
                <a:ea typeface="Helvetica Neue"/>
                <a:cs typeface="Helvetica Neue"/>
              </a:defRPr>
            </a:pPr>
            <a:r>
              <a:rPr sz="1800" b="0">
                <a:solidFill>
                  <a:srgbClr val="526970"/>
                </a:solidFill>
                <a:latin typeface="Helvetica Neue"/>
                <a:ea typeface="Helvetica Neue"/>
                <a:cs typeface="Helvetica Neue"/>
              </a:rPr>
              <a:t>FoodDocs and Mar-Kov already offer traceability. RecallRoom’s proposed entry point is a narrow incident workspace over existing documents.</a:t>
            </a:r>
          </a:p>
        </p:txBody>
      </p:sp>
    </p:spTree>
    <p:extLst>
      <p:ext uri="{BB962C8B-B14F-4D97-AF65-F5344CB8AC3E}">
        <p14:creationId xmlns:p14="http://schemas.microsoft.com/office/powerpoint/2010/main" val="400606707"/>
      </p:ext>
    </p:extLst>
  </p:cSld>
</p:sld>
</file>

<file path=ppt/slides/slide6.xml><?xml version="1.0" encoding="utf-8"?>
<p:sld xmlns:p="http://schemas.openxmlformats.org/presentationml/2006/main">
  <p:cSld>
    <p:bg>
      <p:bgPr>
        <a:solidFill xmlns:a="http://schemas.openxmlformats.org/drawingml/2006/main">
          <a:srgbClr val="122D3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4DBD771-B864-4240-8898-107B5ECFA9BF}"/>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Application evidence and next validation</a:t>
            </a:r>
          </a:p>
        </p:txBody>
      </p:sp>
      <p:sp>
        <p:nvSpPr>
          <p:cNvPr id="2" name="">
            <a:extLst xmlns:a="http://schemas.openxmlformats.org/drawingml/2006/main">
              <a:ext uri="{FF2B5EF4-FFF2-40B4-BE49-F238E27FC236}">
                <a16:creationId xmlns:a16="http://schemas.microsoft.com/office/drawing/2014/main" id="{0BA9D65F-9A72-4B87-9183-2C38F01804F3}"/>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6E1CB"/>
                </a:solidFill>
                <a:latin typeface="Helvetica Neue"/>
                <a:ea typeface="Helvetica Neue"/>
                <a:cs typeface="Helvetica Neue"/>
              </a:defRPr>
            </a:pPr>
            <a:r>
              <a:rPr sz="1200" b="0">
                <a:solidFill>
                  <a:srgbClr val="A6E1CB"/>
                </a:solidFill>
                <a:latin typeface="Helvetica Neue"/>
                <a:ea typeface="Helvetica Neue"/>
                <a:cs typeface="Helvetica Neue"/>
              </a:rPr>
              <a:t>RecallRoom   /   6</a:t>
            </a:r>
          </a:p>
        </p:txBody>
      </p:sp>
      <p:sp>
        <p:nvSpPr>
          <p:cNvPr id="3" name="">
            <a:extLst xmlns:a="http://schemas.openxmlformats.org/drawingml/2006/main">
              <a:ext uri="{FF2B5EF4-FFF2-40B4-BE49-F238E27FC236}">
                <a16:creationId xmlns:a16="http://schemas.microsoft.com/office/drawing/2014/main" id="{4192B071-69CE-46DB-A4F2-24B6C88DA0C6}"/>
              </a:ext>
            </a:extLst>
          </p:cNvPr>
          <p:cNvSpPr>
            <a:spLocks xmlns:a="http://schemas.openxmlformats.org/drawingml/2006/main" noGrp="1"/>
          </p:cNvSpPr>
          <p:nvPr/>
        </p:nvSpPr>
        <p:spPr>
          <a:xfrm xmlns:a="http://schemas.openxmlformats.org/drawingml/2006/main">
            <a:off x="619125" y="15811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A6E1CB"/>
                </a:solidFill>
                <a:latin typeface="Helvetica Neue"/>
                <a:ea typeface="Helvetica Neue"/>
                <a:cs typeface="Helvetica Neue"/>
              </a:defRPr>
            </a:pPr>
            <a:r>
              <a:rPr sz="2325" b="1">
                <a:solidFill>
                  <a:srgbClr val="A6E1CB"/>
                </a:solidFill>
                <a:latin typeface="Helvetica Neue"/>
                <a:ea typeface="Helvetica Neue"/>
                <a:cs typeface="Helvetica Neue"/>
              </a:rPr>
              <a:t>Verified application checks</a:t>
            </a:r>
          </a:p>
        </p:txBody>
      </p:sp>
      <p:sp>
        <p:nvSpPr>
          <p:cNvPr id="4" name="">
            <a:extLst xmlns:a="http://schemas.openxmlformats.org/drawingml/2006/main">
              <a:ext uri="{FF2B5EF4-FFF2-40B4-BE49-F238E27FC236}">
                <a16:creationId xmlns:a16="http://schemas.microsoft.com/office/drawing/2014/main" id="{52C1FCAF-44BE-4925-9AE3-9F53C697D492}"/>
              </a:ext>
            </a:extLst>
          </p:cNvPr>
          <p:cNvSpPr>
            <a:spLocks xmlns:a="http://schemas.openxmlformats.org/drawingml/2006/main" noGrp="1"/>
          </p:cNvSpPr>
          <p:nvPr/>
        </p:nvSpPr>
        <p:spPr>
          <a:xfrm xmlns:a="http://schemas.openxmlformats.org/drawingml/2006/main">
            <a:off x="638175" y="2343150"/>
            <a:ext cx="4810125"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41 automated tests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60 hosted API checks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10 operator checks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Hosted NVIDIA flow passed</a:t>
            </a:r>
          </a:p>
        </p:txBody>
      </p:sp>
      <p:sp>
        <p:nvSpPr>
          <p:cNvPr id="5" name="">
            <a:extLst xmlns:a="http://schemas.openxmlformats.org/drawingml/2006/main">
              <a:ext uri="{FF2B5EF4-FFF2-40B4-BE49-F238E27FC236}">
                <a16:creationId xmlns:a16="http://schemas.microsoft.com/office/drawing/2014/main" id="{70333A2A-C1F6-4DC0-8F93-392AED435EC8}"/>
              </a:ext>
            </a:extLst>
          </p:cNvPr>
          <p:cNvSpPr>
            <a:spLocks xmlns:a="http://schemas.openxmlformats.org/drawingml/2006/main" noGrp="1"/>
          </p:cNvSpPr>
          <p:nvPr/>
        </p:nvSpPr>
        <p:spPr>
          <a:xfrm xmlns:a="http://schemas.openxmlformats.org/drawingml/2006/main">
            <a:off x="6581775" y="1581150"/>
            <a:ext cx="4991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A6E1CB"/>
                </a:solidFill>
                <a:latin typeface="Helvetica Neue"/>
                <a:ea typeface="Helvetica Neue"/>
                <a:cs typeface="Helvetica Neue"/>
              </a:defRPr>
            </a:pPr>
            <a:r>
              <a:rPr sz="2325" b="1">
                <a:solidFill>
                  <a:srgbClr val="A6E1CB"/>
                </a:solidFill>
                <a:latin typeface="Helvetica Neue"/>
                <a:ea typeface="Helvetica Neue"/>
                <a:cs typeface="Helvetica Neue"/>
              </a:rPr>
              <a:t>Next evidence</a:t>
            </a:r>
          </a:p>
        </p:txBody>
      </p:sp>
      <p:sp>
        <p:nvSpPr>
          <p:cNvPr id="6" name="">
            <a:extLst xmlns:a="http://schemas.openxmlformats.org/drawingml/2006/main">
              <a:ext uri="{FF2B5EF4-FFF2-40B4-BE49-F238E27FC236}">
                <a16:creationId xmlns:a16="http://schemas.microsoft.com/office/drawing/2014/main" id="{77412DD7-4C17-4BBA-9DDA-A00E20CE6F2D}"/>
              </a:ext>
            </a:extLst>
          </p:cNvPr>
          <p:cNvSpPr>
            <a:spLocks xmlns:a="http://schemas.openxmlformats.org/drawingml/2006/main" noGrp="1"/>
          </p:cNvSpPr>
          <p:nvPr/>
        </p:nvSpPr>
        <p:spPr>
          <a:xfrm xmlns:a="http://schemas.openxmlformats.org/drawingml/2006/main">
            <a:off x="6600825" y="2343150"/>
            <a:ext cx="4972050"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Evaluate more difficult source files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Measure against human answer keys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Observe quality managers using it</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Test a paid pilot and repeat usage</a:t>
            </a:r>
          </a:p>
        </p:txBody>
      </p:sp>
      <p:sp>
        <p:nvSpPr>
          <p:cNvPr id="7" name="">
            <a:extLst xmlns:a="http://schemas.openxmlformats.org/drawingml/2006/main">
              <a:ext uri="{FF2B5EF4-FFF2-40B4-BE49-F238E27FC236}">
                <a16:creationId xmlns:a16="http://schemas.microsoft.com/office/drawing/2014/main" id="{6354BA42-DF0D-4D74-B080-777AECE0410D}"/>
              </a:ext>
            </a:extLst>
          </p:cNvPr>
          <p:cNvSpPr>
            <a:spLocks xmlns:a="http://schemas.openxmlformats.org/drawingml/2006/main" noGrp="1"/>
          </p:cNvSpPr>
          <p:nvPr/>
        </p:nvSpPr>
        <p:spPr>
          <a:xfrm xmlns:a="http://schemas.openxmlformats.org/drawingml/2006/main">
            <a:off x="638175" y="44196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A6E1CB"/>
                </a:solidFill>
                <a:latin typeface="Helvetica Neue"/>
                <a:ea typeface="Helvetica Neue"/>
                <a:cs typeface="Helvetica Neue"/>
              </a:defRPr>
            </a:pPr>
            <a:r>
              <a:rPr sz="1650" b="0">
                <a:solidFill>
                  <a:srgbClr val="A6E1CB"/>
                </a:solidFill>
                <a:latin typeface="Helvetica Neue"/>
                <a:ea typeface="Helvetica Neue"/>
                <a:cs typeface="Helvetica Neue"/>
              </a:rPr>
              <a:t>One fictional scenario tested end to end. Real-world accuracy remains unmeasured.</a:t>
            </a:r>
          </a:p>
        </p:txBody>
      </p:sp>
      <p:sp>
        <p:nvSpPr>
          <p:cNvPr id="8" name="">
            <a:extLst xmlns:a="http://schemas.openxmlformats.org/drawingml/2006/main">
              <a:ext uri="{FF2B5EF4-FFF2-40B4-BE49-F238E27FC236}">
                <a16:creationId xmlns:a16="http://schemas.microsoft.com/office/drawing/2014/main" id="{CCCC86C5-2CCA-411F-B7EC-F49CB15D8824}"/>
              </a:ext>
            </a:extLst>
          </p:cNvPr>
          <p:cNvSpPr>
            <a:spLocks xmlns:a="http://schemas.openxmlformats.org/drawingml/2006/main" noGrp="1"/>
          </p:cNvSpPr>
          <p:nvPr/>
        </p:nvSpPr>
        <p:spPr>
          <a:xfrm xmlns:a="http://schemas.openxmlformats.org/drawingml/2006/main">
            <a:off x="619125"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FFFFF"/>
                </a:solidFill>
                <a:latin typeface="Helvetica Neue"/>
                <a:ea typeface="Helvetica Neue"/>
                <a:cs typeface="Helvetica Neue"/>
              </a:defRPr>
            </a:pPr>
            <a:r>
              <a:rPr sz="2625" b="1">
                <a:solidFill>
                  <a:srgbClr val="FFFFFF"/>
                </a:solidFill>
                <a:latin typeface="Helvetica Neue"/>
                <a:ea typeface="Helvetica Neue"/>
                <a:cs typeface="Helvetica Neue"/>
              </a:rPr>
              <a:t>Shivam Gupta</a:t>
            </a:r>
          </a:p>
        </p:txBody>
      </p:sp>
      <p:sp>
        <p:nvSpPr>
          <p:cNvPr id="9" name="">
            <a:extLst xmlns:a="http://schemas.openxmlformats.org/drawingml/2006/main">
              <a:ext uri="{FF2B5EF4-FFF2-40B4-BE49-F238E27FC236}">
                <a16:creationId xmlns:a16="http://schemas.microsoft.com/office/drawing/2014/main" id="{8EE2B08F-89CF-4783-956B-42021CDF6939}"/>
              </a:ext>
            </a:extLst>
          </p:cNvPr>
          <p:cNvSpPr>
            <a:spLocks xmlns:a="http://schemas.openxmlformats.org/drawingml/2006/main" noGrp="1"/>
          </p:cNvSpPr>
          <p:nvPr/>
        </p:nvSpPr>
        <p:spPr>
          <a:xfrm xmlns:a="http://schemas.openxmlformats.org/drawingml/2006/main">
            <a:off x="638175" y="56483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E1CB"/>
                </a:solidFill>
                <a:latin typeface="Helvetica Neue"/>
                <a:ea typeface="Helvetica Neue"/>
                <a:cs typeface="Helvetica Neue"/>
              </a:defRPr>
            </a:pPr>
            <a:r>
              <a:rPr sz="1875" b="0">
                <a:solidFill>
                  <a:srgbClr val="A6E1CB"/>
                </a:solidFill>
                <a:latin typeface="Helvetica Neue"/>
                <a:ea typeface="Helvetica Neue"/>
                <a:cs typeface="Helvetica Neue"/>
              </a:rPr>
              <a:t>Project creator, with AI-assisted implementation</a:t>
            </a:r>
          </a:p>
        </p:txBody>
      </p:sp>
    </p:spTree>
    <p:extLst>
      <p:ext uri="{BB962C8B-B14F-4D97-AF65-F5344CB8AC3E}">
        <p14:creationId xmlns:p14="http://schemas.microsoft.com/office/powerpoint/2010/main" val="5862024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2026-09-16T16:10:52.8520000Z</dcterms:created>
  <dcterms:modified xsi:type="dcterms:W3CDTF">2026-09-16T16:10:52.8520000Z</dcterms:modified>
</coreProperties>
</file>